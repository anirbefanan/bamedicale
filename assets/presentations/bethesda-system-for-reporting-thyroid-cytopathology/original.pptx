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876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489204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Bethesda System for Reporting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Thyroid Cytopathology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32688" y="641908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cytologic diagnosis for thyroid FNA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FDF7D-24B6-8069-ED66-F80017417C3E}"/>
              </a:ext>
            </a:extLst>
          </p:cNvPr>
          <p:cNvSpPr txBox="1"/>
          <p:nvPr/>
        </p:nvSpPr>
        <p:spPr>
          <a:xfrm>
            <a:off x="914400" y="7052640"/>
            <a:ext cx="473102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000" b="1" dirty="0"/>
              <a:t>Dr. Vinesia Lestari Riddi, SpPA, MPH</a:t>
            </a:r>
          </a:p>
          <a:p>
            <a:r>
              <a:rPr lang="id-ID" dirty="0"/>
              <a:t>RS Kanker Dharmais-Pusat Kanker Nasional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4081760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Fine-needle aspiration (FNA) is among the first diagnostic tools used in the evaluation of thyroid nodules</a:t>
            </a: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Thyroid FNA offers high positive predictive value (97%–99%), with sensitivities 65% to 99% and specificities of 72% to 100%</a:t>
            </a:r>
            <a:endParaRPr lang="en-US" sz="3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potential diagnostic pitfalls exist that can lead to false-positive (0-28%) and/or false-negative (1-35%)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Bethesda System for Reporting Thyroid Cytopathology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05839" y="3284914"/>
            <a:ext cx="5575069" cy="382246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BSRTC is the internationally accepted classification to communicate cytological diagnosis in a uniform and unambiguous way</a:t>
            </a:r>
            <a:endParaRPr lang="en-US" sz="35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54B7094-2CE5-A244-8126-4653EBBD1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145" y="1769462"/>
            <a:ext cx="8783782" cy="83056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of Malignancy and Management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04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602462"/>
            <a:ext cx="15636240" cy="5438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Criteria for Adequacy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240280"/>
            <a:ext cx="16334509" cy="6172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thyroid FNA sample is considered adequate for evaluation if it contains a minimum of </a:t>
            </a:r>
            <a:r>
              <a:rPr lang="en-US" sz="3500" b="1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groups of well-visualized (i.e., well stained, well preserved, undistorted, and unobstructed) follicular epithelial cells with at least ten cells per group.</a:t>
            </a:r>
            <a:endParaRPr lang="en-US" sz="3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six groups of ten follicular cells could be either on one slide or distributed among several for adequacy determination.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criteria apply to all cytologic preparations (including conventional smears and liquid-based samples).</a:t>
            </a:r>
            <a:endParaRPr lang="en-US" sz="35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9326880" y="2240280"/>
            <a:ext cx="7315200" cy="6172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endParaRPr lang="en-US" sz="16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Exceptions to Adequacy Criteria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4081760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ID" sz="3500" dirty="0"/>
              <a:t>Exceptions to this requirement apply to a limited number of case types, including: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Aspirates with cytologic atypia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Solid nodules with inflammation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Colloid nodules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Non-diagnostic / Unsatisfactory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6766560" cy="6217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3600" dirty="0"/>
              <a:t>Incidence : 10%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3600" dirty="0"/>
              <a:t>Do not meet the criteria for adequacy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D" sz="3600" dirty="0"/>
              <a:t>Recommendation : FNA with USG guidance</a:t>
            </a:r>
          </a:p>
        </p:txBody>
      </p:sp>
      <p:pic>
        <p:nvPicPr>
          <p:cNvPr id="8" name="Image 1" descr="/mnt/data/thyroid_assets/slide_07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710" y="2011680"/>
            <a:ext cx="8469141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Pitfalls: Cystic Papillary Thyroid Carcinoma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5760720" cy="5852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Rule out papillary thyroid carcinoma, cystic variant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 to 10–16 % of PTC can be cystic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 cystic change, malignant tumor cells commonly </a:t>
            </a:r>
            <a:r>
              <a:rPr lang="en-US" sz="3500" b="1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misinterpreted as macrophages (non diagnostic) → false negative</a:t>
            </a:r>
            <a:endParaRPr lang="en-US" sz="3500" b="1" dirty="0"/>
          </a:p>
        </p:txBody>
      </p:sp>
      <p:pic>
        <p:nvPicPr>
          <p:cNvPr id="8" name="Image 1" descr="/mnt/data/thyroid_assets/slide_08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3272671"/>
            <a:ext cx="9829800" cy="39245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Importance of USG-guided FNA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09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2093976"/>
            <a:ext cx="15360535" cy="74605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USG-guided FNA Technique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10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760" y="1737359"/>
            <a:ext cx="11864479" cy="78660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Benign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399" y="2240280"/>
            <a:ext cx="16279092" cy="6172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D" sz="3000" dirty="0"/>
              <a:t>Adequate for evaluation and consists of colloid and benign-appearing follicular cells in varying proportions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sz="3000" dirty="0"/>
              <a:t>Included entities: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000" dirty="0"/>
              <a:t>Benign follicular nodule: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Colloid nodules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Nodular </a:t>
            </a:r>
            <a:r>
              <a:rPr lang="en-ID" sz="3000" dirty="0" err="1"/>
              <a:t>goiter</a:t>
            </a:r>
            <a:r>
              <a:rPr lang="en-ID" sz="3000" dirty="0"/>
              <a:t>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Hyperplastic (adenomatoid) nodules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Nodules in Graves’ disease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000" dirty="0"/>
              <a:t>Thyroiditis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Lymphocytic thyroiditis 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ID" sz="3000" dirty="0"/>
              <a:t>Granulomatous thyroiditis</a:t>
            </a:r>
          </a:p>
        </p:txBody>
      </p:sp>
      <p:sp>
        <p:nvSpPr>
          <p:cNvPr id="8" name="Text 5"/>
          <p:cNvSpPr/>
          <p:nvPr/>
        </p:nvSpPr>
        <p:spPr>
          <a:xfrm>
            <a:off x="9326880" y="2240280"/>
            <a:ext cx="7315200" cy="6172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endParaRPr lang="en-US" sz="169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Benign Cytology: Colloid &amp; Follicular Cells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12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18501"/>
            <a:ext cx="15544800" cy="62066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Benign Cytomorphologic Features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399" y="2331720"/>
            <a:ext cx="16389927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Monolayered sheets of follicular cells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Occasional three dimensional balls/spheres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Evenly spaced nuclear arrangement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Follicular cell nuclei are round to oval, approximately the size of a red blood cell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Colloid background</a:t>
            </a:r>
            <a:endParaRPr lang="en-US" sz="3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Benign Cytology: Microscopy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3759C355-0587-335F-09CC-6FCA67C75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844" y="2282220"/>
            <a:ext cx="16134311" cy="65363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55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Atypia of Undetermined Significance (AUS)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17027236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Specimens that contain cells (follicular, lymphoid, or other) with architectural and/or nuclear atypia that is not sufficient to be classified as suspicious for a follicular neoplasm, suspicious for malignancy, or malignant; but more marked than can be ascribed confidently to benign changes.</a:t>
            </a:r>
            <a:endParaRPr lang="en-US" sz="3500" dirty="0"/>
          </a:p>
        </p:txBody>
      </p:sp>
      <p:pic>
        <p:nvPicPr>
          <p:cNvPr id="8" name="Image 1" descr="/mnt/data/thyroid_assets/slide_15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96" y="4433455"/>
            <a:ext cx="17113113" cy="48019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Follicular Neoplasm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4081760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ROM 25-40%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Significant architectural atypia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Predominant microfollicles and trabeculae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Cellular smear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Mild nuclear change may be seen (no INCIs or papillae)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Colloid scant or absent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Lobectomy is necessary for definitive diagnosis</a:t>
            </a:r>
            <a:endParaRPr lang="en-US" sz="3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Follicular Neoplasm: Cytology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17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112" y="2212848"/>
            <a:ext cx="8576118" cy="74340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Follicular Neoplasm: Cellular Smears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ADEBC355-CBF8-4820-2E07-3757EC57F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995" y="2389582"/>
            <a:ext cx="5068841" cy="62119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7FF42D-2B32-0691-17BC-1228909955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796" y="2386118"/>
            <a:ext cx="8251103" cy="62119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Follicular Neoplasm, Hürthle Cell Type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19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7591" y="2212848"/>
            <a:ext cx="8335617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Hürthle Cell Type: Cytology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20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55632"/>
            <a:ext cx="15544800" cy="61323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Suspicious for Malignancy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5946582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D" sz="3500" dirty="0"/>
              <a:t>ROM: 65-75%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sz="3500" dirty="0"/>
              <a:t>Cytomorphologic features (most often those of PTC) raise a strong suspicion of malignancy but the findings are not sufficient for a conclusive diagnosis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D" sz="3500" dirty="0"/>
              <a:t>Included entities: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Suspicious for papillary carcinoma (FVPTC/NIFTP may include in this category)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Suspicious for medullary carcinoma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Suspicious for lymphoma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D" sz="3500" dirty="0"/>
              <a:t>Suspicious for metastatic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Suspicious for Malignancy: Cytology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22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340" y="2212848"/>
            <a:ext cx="7497700" cy="6217920"/>
          </a:xfrm>
          <a:prstGeom prst="rect">
            <a:avLst/>
          </a:prstGeom>
        </p:spPr>
      </p:pic>
      <p:pic>
        <p:nvPicPr>
          <p:cNvPr id="8" name="Image 2" descr="/mnt/data/thyroid_assets/slide_22_img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475" y="2212848"/>
            <a:ext cx="7352270" cy="6217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Malignant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14081760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: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Papillary carcinoma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Medullary carcinoma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Lymphoma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Metastatic tumors</a:t>
            </a:r>
            <a:endParaRPr lang="en-US" sz="3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Malignant Cytology: Papillary Carcinoma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25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323" y="2258568"/>
            <a:ext cx="14009354" cy="71506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Papillary Thyroid Carcinoma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3612A154-B1A2-8D0E-D9DC-B3939EB8D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855" y="2666004"/>
            <a:ext cx="7605976" cy="57089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F5CD13-1025-92AE-984C-715C221CF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831" y="2725897"/>
            <a:ext cx="7261187" cy="57089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Medullary Thyroid Carcinoma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7" name="Image 1" descr="/mnt/data/thyroid_assets/slide_27_img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306" y="2212848"/>
            <a:ext cx="9077002" cy="70225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Tumors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8CB3941E-7C5F-C008-AB91-BF6BF915B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466250"/>
            <a:ext cx="7680237" cy="5854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32EFF9-8E16-18B2-459F-2A61E5430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645" y="2466251"/>
            <a:ext cx="7966515" cy="58540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7FCECE-0F5C-5D6E-F0FA-4BB5912FE7F7}"/>
              </a:ext>
            </a:extLst>
          </p:cNvPr>
          <p:cNvSpPr txBox="1"/>
          <p:nvPr/>
        </p:nvSpPr>
        <p:spPr>
          <a:xfrm>
            <a:off x="2541181" y="8469816"/>
            <a:ext cx="431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Lymphoma</a:t>
            </a:r>
            <a:endParaRPr lang="en-ID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5D6E2-9BB8-56D2-7CEC-96A201E53633}"/>
              </a:ext>
            </a:extLst>
          </p:cNvPr>
          <p:cNvSpPr txBox="1"/>
          <p:nvPr/>
        </p:nvSpPr>
        <p:spPr>
          <a:xfrm>
            <a:off x="10668914" y="8550598"/>
            <a:ext cx="4843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Metastatic Adenocarcinoma</a:t>
            </a:r>
            <a:endParaRPr lang="en-ID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170432"/>
            <a:ext cx="11612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59536" y="1810512"/>
            <a:ext cx="3840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77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REPORTING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96469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" y="9646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System for Reporting Thyroid Cytopathology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914399" y="2331720"/>
            <a:ext cx="17082655" cy="5989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FNAB cannot diagnose follicular carcinoma because in follicular carcinoma it requires demonstration of capsular invasion or vascular invasion which cannot be seen in FNAB.</a:t>
            </a:r>
            <a:endParaRPr lang="en-US" sz="3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NIFTP cannot be </a:t>
            </a:r>
            <a:r>
              <a:rPr lang="en-US" sz="3500" b="1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definitively</a:t>
            </a: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diagnosed by FNA; its diagnosis requires histologic examination of the resected lesion.</a:t>
            </a:r>
            <a:endParaRPr lang="en-US" sz="3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Bethesda category SHOULD NOT become the sole determinant of management.</a:t>
            </a:r>
            <a:endParaRPr lang="en-US" sz="35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Clinical relevances + ultrasound + Bethesda category = management</a:t>
            </a:r>
            <a:endParaRPr lang="en-US" sz="3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review_template/p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27564"/>
            <a:ext cx="11582400" cy="2930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265B8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10000" dirty="0"/>
          </a:p>
        </p:txBody>
      </p:sp>
      <p:sp>
        <p:nvSpPr>
          <p:cNvPr id="5" name="Text 2"/>
          <p:cNvSpPr/>
          <p:nvPr/>
        </p:nvSpPr>
        <p:spPr>
          <a:xfrm>
            <a:off x="960120" y="6080760"/>
            <a:ext cx="16912244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:</a:t>
            </a:r>
            <a:endParaRPr lang="en-US" sz="3500" dirty="0"/>
          </a:p>
          <a:p>
            <a:pPr marL="0" indent="0">
              <a:buNone/>
            </a:pPr>
            <a:r>
              <a:rPr lang="en-US" sz="3500" dirty="0">
                <a:solidFill>
                  <a:srgbClr val="243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 SZ, Baloch ZW, Cochand-Priollet B, et al. The 2023 Bethesda System for Reporting Thyroid Cytopathology. Thyroid. 2023.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1018</Words>
  <Application>Microsoft Office PowerPoint</Application>
  <PresentationFormat>Custom</PresentationFormat>
  <Paragraphs>203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RSK Dharmais / Webinar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Bethesda System for Reporting Thyroid Cytopathology</dc:title>
  <dc:subject>Bethesda System for Reporting Thyroid Cytopathology</dc:subject>
  <dc:creator>OpenAI</dc:creator>
  <cp:lastModifiedBy>vinesia riddi</cp:lastModifiedBy>
  <cp:revision>3</cp:revision>
  <dcterms:created xsi:type="dcterms:W3CDTF">2026-09-15T17:26:33Z</dcterms:created>
  <dcterms:modified xsi:type="dcterms:W3CDTF">2026-09-18T04:24:53Z</dcterms:modified>
</cp:coreProperties>
</file>