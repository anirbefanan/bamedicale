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3"/>
    <p:sldId id="277" r:id="rId4"/>
    <p:sldId id="302" r:id="rId5"/>
    <p:sldId id="258" r:id="rId7"/>
    <p:sldId id="264" r:id="rId8"/>
    <p:sldId id="265" r:id="rId9"/>
    <p:sldId id="273" r:id="rId10"/>
    <p:sldId id="267" r:id="rId11"/>
    <p:sldId id="303" r:id="rId12"/>
    <p:sldId id="278" r:id="rId13"/>
    <p:sldId id="306" r:id="rId14"/>
    <p:sldId id="295" r:id="rId15"/>
    <p:sldId id="296" r:id="rId16"/>
    <p:sldId id="297" r:id="rId17"/>
    <p:sldId id="260" r:id="rId18"/>
    <p:sldId id="304" r:id="rId19"/>
    <p:sldId id="298" r:id="rId20"/>
    <p:sldId id="299" r:id="rId21"/>
    <p:sldId id="300" r:id="rId22"/>
    <p:sldId id="307" r:id="rId23"/>
    <p:sldId id="308" r:id="rId24"/>
    <p:sldId id="309" r:id="rId25"/>
    <p:sldId id="310" r:id="rId26"/>
    <p:sldId id="257" r:id="rId27"/>
    <p:sldId id="305" r:id="rId28"/>
  </p:sldIdLst>
  <p:sldSz cx="18288000" cy="10287000"/>
  <p:notesSz cx="6858000" cy="9144000"/>
  <p:embeddedFontLs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Helvetica" panose="020B0604020202020204" pitchFamily="34" charset="0"/>
      <p:regular r:id="rId36"/>
      <p:bold r:id="rId37"/>
      <p:italic r:id="rId38"/>
      <p:boldItalic r:id="rId39"/>
    </p:embeddedFont>
    <p:embeddedFont>
      <p:font typeface="Poppins Light" panose="00000400000000000000" pitchFamily="2" charset="0"/>
      <p:regular r:id="rId40"/>
      <p:italic r:id="rId41"/>
    </p:embeddedFont>
    <p:embeddedFont>
      <p:font typeface="Raleway" pitchFamily="2" charset="0"/>
      <p:regular r:id="rId42"/>
    </p:embeddedFont>
    <p:embeddedFont>
      <p:font typeface="Roboto" panose="02000000000000000000" pitchFamily="2" charset="0"/>
      <p:regular r:id="rId43"/>
      <p:bold r:id="rId44"/>
      <p:italic r:id="rId45"/>
    </p:embeddedFont>
    <p:embeddedFont>
      <p:font typeface="Roboto Bold" panose="02000000000000000000" charset="0"/>
      <p:bold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6" d="100"/>
          <a:sy n="56" d="100"/>
        </p:scale>
        <p:origin x="378" y="2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0" Type="http://schemas.openxmlformats.org/officeDocument/2006/relationships/font" Target="fonts/font19.fntdata"/><Relationship Id="rId5" Type="http://schemas.openxmlformats.org/officeDocument/2006/relationships/slide" Target="slides/slide3.xml"/><Relationship Id="rId49" Type="http://schemas.openxmlformats.org/officeDocument/2006/relationships/font" Target="fonts/font18.fntdata"/><Relationship Id="rId48" Type="http://schemas.openxmlformats.org/officeDocument/2006/relationships/font" Target="fonts/font17.fntdata"/><Relationship Id="rId47" Type="http://schemas.openxmlformats.org/officeDocument/2006/relationships/font" Target="fonts/font16.fntdata"/><Relationship Id="rId46" Type="http://schemas.openxmlformats.org/officeDocument/2006/relationships/font" Target="fonts/font15.fntdata"/><Relationship Id="rId45" Type="http://schemas.openxmlformats.org/officeDocument/2006/relationships/font" Target="fonts/font14.fntdata"/><Relationship Id="rId44" Type="http://schemas.openxmlformats.org/officeDocument/2006/relationships/font" Target="fonts/font13.fntdata"/><Relationship Id="rId43" Type="http://schemas.openxmlformats.org/officeDocument/2006/relationships/font" Target="fonts/font12.fntdata"/><Relationship Id="rId42" Type="http://schemas.openxmlformats.org/officeDocument/2006/relationships/font" Target="fonts/font11.fntdata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slide" Target="slides/slide2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6D6C4-771E-4487-8501-546BF241A757}" type="datetimeFigureOut">
              <a:rPr lang="en-ID" smtClean="0"/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403FD-E8CA-49F1-AB1C-5A51E9510A97}" type="slidenum">
              <a:rPr lang="en-ID" smtClean="0"/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American College of Radiology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Thyroid Imaging Reporting and Data System 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(TI-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RADS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ultrasound-based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stratification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TI-RADS seeks to increase the consistency with which thyroid nodules are evaluated 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classified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id-ID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d-ID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ultrasound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To do so, the system provides specific recommendations for management of every nodule, which may otherwise be absent from ultrasound reports. In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TI-RADS, nodules are evaluated in five sonographic feature categories: composition, echogenicity, shape, margin, and echogenic foci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Thyroid nodules are exceedingly common, being found in as many as 68% of high-resolution ultrasound scans [13]. To avoid the need to formally classify every nodule,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TI-RADS advises reporting no more than four nodules with the highest scores that warrant follow-up. Additionally, no more than two nodules with the highest scores that meet criteria for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FNA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should be recommended for biopsy. Again, the goal is to foster greater consistency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thyroid nodule reporting and management. </a:t>
            </a:r>
            <a:endParaRPr lang="id-ID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Transverse ultrasound image in 46-year-old woman shows isoechoic, mixed cystic-solid nodule with category of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TR2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(2 points). Comet tail artifacts (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arrows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could be misinterpreted as punctate echogenic foci. This would result in categorization of nodule as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TR4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(5 points) and biopsy with 1.5-cm threshold instead of no biopsy at any size.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Large comet tail artifacts — or high-echogenicity foci from the back wall of tiny cysts — are frequently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misread as punctate echogenic foci (PEF)</a:t>
            </a: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Since PEF carry 3 points, this single misclassification can elevate a </a:t>
            </a:r>
            <a:r>
              <a:rPr lang="en-US" sz="1200" dirty="0" err="1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TR2</a:t>
            </a: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nodule to </a:t>
            </a:r>
            <a:r>
              <a:rPr lang="en-US" sz="1200" b="1" dirty="0" err="1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TR4</a:t>
            </a: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triggering biopsy.</a:t>
            </a:r>
            <a:endParaRPr lang="en-US" sz="1200" dirty="0"/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Transverse ultrasound image in 78-year-old man showing isoechoic, mixed cystic-solid lesion with category of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TR2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(2 points). Posterior acoustic enhancement could be missed and cystic regions (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thick arrows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misinterpreted as hypoechoic components of heterogeneous solid nodule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TR4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4 points). In addition, back wall of cysts (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thin arrows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could be misinterpreted as punctate echogenic foci, which would result in categorization of nodule as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TR5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(5 points) and biopsy with 1.0-cm threshold instead of no biopsy at any size.</a:t>
            </a:r>
            <a:endParaRPr lang="id-ID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jpe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3203"/>
            <a:ext cx="18662063" cy="10719097"/>
          </a:xfrm>
          <a:custGeom>
            <a:avLst/>
            <a:gdLst/>
            <a:ahLst/>
            <a:cxnLst/>
            <a:rect l="l" t="t" r="r" b="b"/>
            <a:pathLst>
              <a:path w="18662063" h="10719097">
                <a:moveTo>
                  <a:pt x="0" y="0"/>
                </a:moveTo>
                <a:lnTo>
                  <a:pt x="18662063" y="0"/>
                </a:lnTo>
                <a:lnTo>
                  <a:pt x="18662063" y="10719098"/>
                </a:lnTo>
                <a:lnTo>
                  <a:pt x="0" y="1071909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</a:blip>
            <a:stretch>
              <a:fillRect t="-12791" b="-116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3400" y="282262"/>
            <a:ext cx="2708594" cy="913086"/>
          </a:xfrm>
          <a:custGeom>
            <a:avLst/>
            <a:gdLst/>
            <a:ahLst/>
            <a:cxnLst/>
            <a:rect l="l" t="t" r="r" b="b"/>
            <a:pathLst>
              <a:path w="2447467" h="838257">
                <a:moveTo>
                  <a:pt x="0" y="0"/>
                </a:moveTo>
                <a:lnTo>
                  <a:pt x="2447467" y="0"/>
                </a:lnTo>
                <a:lnTo>
                  <a:pt x="2447467" y="838257"/>
                </a:lnTo>
                <a:lnTo>
                  <a:pt x="0" y="838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54399" y="8648700"/>
            <a:ext cx="1563887" cy="1504286"/>
          </a:xfrm>
          <a:custGeom>
            <a:avLst/>
            <a:gdLst/>
            <a:ahLst/>
            <a:cxnLst/>
            <a:rect l="l" t="t" r="r" b="b"/>
            <a:pathLst>
              <a:path w="1428086" h="1428086">
                <a:moveTo>
                  <a:pt x="0" y="0"/>
                </a:moveTo>
                <a:lnTo>
                  <a:pt x="1428086" y="0"/>
                </a:lnTo>
                <a:lnTo>
                  <a:pt x="1428086" y="1428086"/>
                </a:lnTo>
                <a:lnTo>
                  <a:pt x="0" y="1428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153400" y="487289"/>
            <a:ext cx="9564887" cy="692497"/>
          </a:xfrm>
          <a:prstGeom prst="rect">
            <a:avLst/>
          </a:prstGeom>
          <a:effectLst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MANAGEMENT OF THYROID NODULES : HOW TO MAKE A GOOD DIAGNOSIS ? 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Poppins Light" panose="020B0604020202020204" charset="0"/>
              <a:ea typeface="Poppins Semi-Bold"/>
              <a:cs typeface="Poppins Light" panose="020B0604020202020204" charset="0"/>
              <a:sym typeface="Poppins Semi-Bold"/>
            </a:endParaRPr>
          </a:p>
          <a:p>
            <a:pPr algn="r">
              <a:lnSpc>
                <a:spcPts val="2700"/>
              </a:lnSpc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Live Webinar, September 19</a:t>
            </a:r>
            <a:r>
              <a:rPr lang="en-US" sz="1200" b="1" baseline="30000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th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 2026</a:t>
            </a:r>
            <a:endParaRPr lang="en-US" sz="1200" b="1" dirty="0">
              <a:solidFill>
                <a:schemeClr val="accent1">
                  <a:lumMod val="75000"/>
                </a:schemeClr>
              </a:solidFill>
              <a:latin typeface="Poppins Light" panose="020B0604020202020204" charset="0"/>
              <a:ea typeface="Poppins Semi-Bold"/>
              <a:cs typeface="Poppins Light" panose="020B0604020202020204" charset="0"/>
              <a:sym typeface="Poppins Semi-Bold"/>
            </a:endParaRPr>
          </a:p>
        </p:txBody>
      </p:sp>
      <p:pic>
        <p:nvPicPr>
          <p:cNvPr id="4" name="Picture 2097160" descr="logo pdsri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797" y="1790700"/>
            <a:ext cx="142700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09715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t="16667" r="53906" b="20667"/>
          <a:stretch>
            <a:fillRect/>
          </a:stretch>
        </p:blipFill>
        <p:spPr bwMode="auto">
          <a:xfrm>
            <a:off x="7696200" y="1866900"/>
            <a:ext cx="142700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097159" descr="logo psrii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0699" y="1740246"/>
            <a:ext cx="1503701" cy="1193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494161"/>
            <a:ext cx="4495800" cy="2381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 txBox="1">
            <a:spLocks noChangeArrowheads="1"/>
          </p:cNvSpPr>
          <p:nvPr/>
        </p:nvSpPr>
        <p:spPr>
          <a:xfrm>
            <a:off x="2667000" y="6134100"/>
            <a:ext cx="13119085" cy="298712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4000"/>
              </a:lnSpc>
            </a:pPr>
            <a:r>
              <a:rPr lang="en-US" sz="48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Ultrasound Imaging and TIRADS Classification in Thyroid Nodules</a:t>
            </a:r>
            <a:endParaRPr lang="en-US" sz="4800" dirty="0"/>
          </a:p>
        </p:txBody>
      </p:sp>
      <p:sp>
        <p:nvSpPr>
          <p:cNvPr id="15362" name="Rectangle 3"/>
          <p:cNvSpPr txBox="1"/>
          <p:nvPr/>
        </p:nvSpPr>
        <p:spPr>
          <a:xfrm>
            <a:off x="3581400" y="8047505"/>
            <a:ext cx="10858500" cy="19431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D" sz="2250" dirty="0">
                <a:latin typeface="Century Gothic" panose="020B0502020202020204" pitchFamily="34" charset="0"/>
              </a:rPr>
              <a:t>Achmad Fachri, MD</a:t>
            </a:r>
            <a:endParaRPr lang="en-ID" sz="2250" dirty="0">
              <a:latin typeface="Century Gothic" panose="020B0502020202020204" pitchFamily="34" charset="0"/>
            </a:endParaRPr>
          </a:p>
          <a:p>
            <a:pPr algn="ctr"/>
            <a:r>
              <a:rPr lang="en-ID" sz="2250" dirty="0">
                <a:latin typeface="Century Gothic" panose="020B0502020202020204" pitchFamily="34" charset="0"/>
              </a:rPr>
              <a:t>Head and Neck Department </a:t>
            </a:r>
            <a:endParaRPr lang="en-ID" sz="2250" dirty="0">
              <a:latin typeface="Century Gothic" panose="020B0502020202020204" pitchFamily="34" charset="0"/>
            </a:endParaRPr>
          </a:p>
          <a:p>
            <a:pPr algn="ctr"/>
            <a:r>
              <a:rPr lang="en-ID" sz="2250" dirty="0" err="1">
                <a:latin typeface="Century Gothic" panose="020B0502020202020204" pitchFamily="34" charset="0"/>
              </a:rPr>
              <a:t>Dharmais</a:t>
            </a:r>
            <a:r>
              <a:rPr lang="en-ID" sz="2250" dirty="0">
                <a:latin typeface="Century Gothic" panose="020B0502020202020204" pitchFamily="34" charset="0"/>
              </a:rPr>
              <a:t> National Cancer </a:t>
            </a:r>
            <a:r>
              <a:rPr lang="en-ID" sz="2250" dirty="0" err="1">
                <a:latin typeface="Century Gothic" panose="020B0502020202020204" pitchFamily="34" charset="0"/>
              </a:rPr>
              <a:t>Center</a:t>
            </a:r>
            <a:r>
              <a:rPr lang="en-ID" sz="2250" dirty="0">
                <a:latin typeface="Century Gothic" panose="020B0502020202020204" pitchFamily="34" charset="0"/>
              </a:rPr>
              <a:t> Hospital</a:t>
            </a:r>
            <a:endParaRPr lang="en-ID" sz="225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628900"/>
            <a:ext cx="9296400" cy="4525963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  <a:endParaRPr lang="en-US" dirty="0"/>
          </a:p>
          <a:p>
            <a:r>
              <a:rPr lang="en-US" dirty="0"/>
              <a:t>What is US imaging ?</a:t>
            </a:r>
            <a:endParaRPr lang="en-US" dirty="0"/>
          </a:p>
          <a:p>
            <a:r>
              <a:rPr lang="en-US" dirty="0"/>
              <a:t>Why US ?</a:t>
            </a:r>
            <a:endParaRPr lang="en-US" dirty="0"/>
          </a:p>
          <a:p>
            <a:r>
              <a:rPr lang="en-US" dirty="0"/>
              <a:t>Anatomy Thyroid</a:t>
            </a:r>
            <a:endParaRPr lang="en-US" dirty="0"/>
          </a:p>
          <a:p>
            <a:r>
              <a:rPr lang="en-US" dirty="0"/>
              <a:t>TIRADS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0240" y="1786088"/>
            <a:ext cx="9445526" cy="885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55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Overview</a:t>
            </a:r>
            <a:endParaRPr lang="en-US" sz="5500" dirty="0"/>
          </a:p>
        </p:txBody>
      </p:sp>
      <p:sp>
        <p:nvSpPr>
          <p:cNvPr id="4" name="Shape 1"/>
          <p:cNvSpPr/>
          <p:nvPr/>
        </p:nvSpPr>
        <p:spPr>
          <a:xfrm>
            <a:off x="7850240" y="3097262"/>
            <a:ext cx="4580930" cy="301362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5" name="Text 2"/>
          <p:cNvSpPr/>
          <p:nvPr/>
        </p:nvSpPr>
        <p:spPr>
          <a:xfrm>
            <a:off x="8143282" y="3390305"/>
            <a:ext cx="3994844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Finding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143282" y="4003328"/>
            <a:ext cx="3994844" cy="1814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Thyroid nodules are frequently encountered during routine ultrasonography in healthy adults.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714686" y="3097262"/>
            <a:ext cx="4581078" cy="301362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8" name="Text 5"/>
          <p:cNvSpPr/>
          <p:nvPr/>
        </p:nvSpPr>
        <p:spPr>
          <a:xfrm>
            <a:off x="13007728" y="3390305"/>
            <a:ext cx="3994994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Malignancy Risk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3007728" y="4003328"/>
            <a:ext cx="3994994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Majority are benign, but carry a </a:t>
            </a: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7–15% risk of malignancy</a:t>
            </a: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requiring careful evaluation.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general US imaging?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095500"/>
            <a:ext cx="15392400" cy="4525963"/>
          </a:xfrm>
        </p:spPr>
        <p:txBody>
          <a:bodyPr>
            <a:normAutofit/>
          </a:bodyPr>
          <a:lstStyle/>
          <a:p>
            <a:r>
              <a:rPr lang="en-US" dirty="0"/>
              <a:t>US imaging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sonography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involves exposing part </a:t>
            </a:r>
            <a:r>
              <a:rPr lang="en-US" dirty="0" err="1"/>
              <a:t>ot</a:t>
            </a:r>
            <a:r>
              <a:rPr lang="en-US" dirty="0"/>
              <a:t> the body to </a:t>
            </a:r>
            <a:r>
              <a:rPr lang="en-US" dirty="0">
                <a:solidFill>
                  <a:srgbClr val="FF0000"/>
                </a:solidFill>
              </a:rPr>
              <a:t>high frequency </a:t>
            </a:r>
            <a:r>
              <a:rPr lang="en-US" dirty="0"/>
              <a:t>sound waves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produce images</a:t>
            </a:r>
            <a:endParaRPr lang="en-US" dirty="0"/>
          </a:p>
          <a:p>
            <a:endParaRPr lang="en-US" dirty="0"/>
          </a:p>
          <a:p>
            <a:r>
              <a:rPr lang="en-US" dirty="0"/>
              <a:t>US examination do not use ionizing radiation (as used in x-rays).</a:t>
            </a:r>
            <a:endParaRPr lang="en-US" dirty="0"/>
          </a:p>
          <a:p>
            <a:endParaRPr lang="en-US" dirty="0"/>
          </a:p>
          <a:p>
            <a:r>
              <a:rPr lang="en-US" dirty="0"/>
              <a:t>US images are captured in </a:t>
            </a:r>
            <a:r>
              <a:rPr lang="en-US" dirty="0">
                <a:solidFill>
                  <a:srgbClr val="FF0000"/>
                </a:solidFill>
              </a:rPr>
              <a:t>real-time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show the structure and movement of the body’s internal organs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as well as blood flowing through blood vessels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-354811"/>
            <a:ext cx="15773400" cy="1988345"/>
          </a:xfrm>
        </p:spPr>
        <p:txBody>
          <a:bodyPr/>
          <a:lstStyle/>
          <a:p>
            <a:r>
              <a:rPr lang="en-US" dirty="0"/>
              <a:t>Principles of US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97845"/>
            <a:ext cx="8372187" cy="381000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0" y="6150376"/>
            <a:ext cx="13868400" cy="3459163"/>
          </a:xfrm>
        </p:spPr>
        <p:txBody>
          <a:bodyPr/>
          <a:lstStyle/>
          <a:p>
            <a:r>
              <a:rPr lang="en-US" dirty="0"/>
              <a:t>Optimum frequency range for diagnostic </a:t>
            </a:r>
            <a:r>
              <a:rPr lang="en-US" dirty="0">
                <a:sym typeface="Wingdings" panose="05000000000000000000" pitchFamily="2" charset="2"/>
              </a:rPr>
              <a:t> 1-20 </a:t>
            </a:r>
            <a:r>
              <a:rPr lang="en-US" dirty="0" err="1">
                <a:sym typeface="Wingdings" panose="05000000000000000000" pitchFamily="2" charset="2"/>
              </a:rPr>
              <a:t>MHz.</a:t>
            </a:r>
            <a:endParaRPr lang="en-US" dirty="0"/>
          </a:p>
          <a:p>
            <a:r>
              <a:rPr lang="en-US" dirty="0"/>
              <a:t>3,5-5 MHz	:  abdominal, heart</a:t>
            </a:r>
            <a:endParaRPr lang="en-US" dirty="0"/>
          </a:p>
          <a:p>
            <a:r>
              <a:rPr lang="en-US" dirty="0"/>
              <a:t>5-10 MHz	:  </a:t>
            </a:r>
            <a:r>
              <a:rPr lang="en-US" dirty="0">
                <a:solidFill>
                  <a:srgbClr val="FF0000"/>
                </a:solidFill>
              </a:rPr>
              <a:t>thyroid</a:t>
            </a:r>
            <a:r>
              <a:rPr lang="en-US" dirty="0"/>
              <a:t>, carotid, breast, testis, and other superficial tissues, infants.</a:t>
            </a:r>
            <a:endParaRPr lang="en-US" dirty="0"/>
          </a:p>
          <a:p>
            <a:r>
              <a:rPr lang="en-US" dirty="0"/>
              <a:t>10-15 MHz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dirty="0"/>
              <a:t>:   for the eye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6665226" cy="1988345"/>
          </a:xfrm>
        </p:spPr>
        <p:txBody>
          <a:bodyPr/>
          <a:lstStyle/>
          <a:p>
            <a:r>
              <a:rPr lang="en-US" dirty="0"/>
              <a:t>Ultrasound parts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2461" y="3193576"/>
            <a:ext cx="6929373" cy="5197031"/>
          </a:xfrm>
        </p:spPr>
      </p:pic>
      <p:pic>
        <p:nvPicPr>
          <p:cNvPr id="3" name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326" y="3292092"/>
            <a:ext cx="5294496" cy="5294496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10928447" y="706240"/>
            <a:ext cx="5455695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/>
              <a:t>Transducer</a:t>
            </a:r>
            <a:endParaRPr lang="en-US" sz="6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600" dirty="0">
                <a:effectLst>
                  <a:outerShdw blurRad="38100" dist="38100" dir="2700000" algn="tl">
                    <a:srgbClr val="00000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Image </a:t>
            </a:r>
            <a:r>
              <a:rPr lang="en-US" sz="66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Verdana" panose="020B0604030504040204" pitchFamily="34" charset="0"/>
                <a:cs typeface="Verdana" panose="020B0604030504040204" pitchFamily="34" charset="0"/>
                <a:sym typeface="Verdana" panose="020B0604030504040204" pitchFamily="34" charset="0"/>
              </a:rPr>
              <a:t>Optimization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3230" indent="-443230" defTabSz="1950085">
              <a:lnSpc>
                <a:spcPct val="80000"/>
              </a:lnSpc>
              <a:spcBef>
                <a:spcPts val="1050"/>
              </a:spcBef>
              <a:buClr>
                <a:srgbClr val="FFCC00"/>
              </a:buClr>
              <a:buSzPct val="70000"/>
              <a:buFontTx/>
              <a:buAutoNum type="arabicPeriod"/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Helvetica" charset="0"/>
                <a:cs typeface="Helvetica" charset="0"/>
                <a:sym typeface="Helvetica" charset="0"/>
              </a:rPr>
              <a:t>Depth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ea typeface="Helvetica" charset="0"/>
              <a:cs typeface="Helvetica" charset="0"/>
              <a:sym typeface="Helvetica" charset="0"/>
            </a:endParaRPr>
          </a:p>
          <a:p>
            <a:pPr marL="443230" indent="-443230" defTabSz="1950085">
              <a:lnSpc>
                <a:spcPct val="80000"/>
              </a:lnSpc>
              <a:spcBef>
                <a:spcPts val="1050"/>
              </a:spcBef>
              <a:buClr>
                <a:srgbClr val="FFCC00"/>
              </a:buClr>
              <a:buSzPct val="70000"/>
              <a:buFontTx/>
              <a:buAutoNum type="arabicPeriod"/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Helvetica" charset="0"/>
                <a:cs typeface="Helvetica" charset="0"/>
                <a:sym typeface="Helvetica" charset="0"/>
              </a:rPr>
              <a:t>Focus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ea typeface="Helvetica" charset="0"/>
              <a:cs typeface="Helvetica" charset="0"/>
              <a:sym typeface="Helvetica" charset="0"/>
            </a:endParaRPr>
          </a:p>
          <a:p>
            <a:pPr marL="443230" indent="-443230" defTabSz="1950085">
              <a:lnSpc>
                <a:spcPct val="80000"/>
              </a:lnSpc>
              <a:spcBef>
                <a:spcPts val="1050"/>
              </a:spcBef>
              <a:buClr>
                <a:srgbClr val="FFCC00"/>
              </a:buClr>
              <a:buSzPct val="70000"/>
              <a:buFontTx/>
              <a:buAutoNum type="arabicPeriod"/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Helvetica" charset="0"/>
                <a:cs typeface="Helvetica" charset="0"/>
                <a:sym typeface="Helvetica" charset="0"/>
              </a:rPr>
              <a:t>TGC (to obtain a smooth grey-scale picture)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ea typeface="Helvetica" charset="0"/>
              <a:cs typeface="Helvetica" charset="0"/>
              <a:sym typeface="Helvetica" charset="0"/>
            </a:endParaRPr>
          </a:p>
          <a:p>
            <a:pPr marL="443230" indent="-443230" defTabSz="1950085">
              <a:lnSpc>
                <a:spcPct val="80000"/>
              </a:lnSpc>
              <a:spcBef>
                <a:spcPts val="1050"/>
              </a:spcBef>
              <a:buClr>
                <a:srgbClr val="FFCC00"/>
              </a:buClr>
              <a:buSzPct val="70000"/>
              <a:buFontTx/>
              <a:buAutoNum type="arabicPeriod"/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Helvetica" charset="0"/>
                <a:cs typeface="Helvetica" charset="0"/>
                <a:sym typeface="Helvetica" charset="0"/>
              </a:rPr>
              <a:t>Zoom / magnification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ea typeface="Helvetica" charset="0"/>
              <a:cs typeface="Helvetica" charset="0"/>
              <a:sym typeface="Helvetica" charset="0"/>
            </a:endParaRPr>
          </a:p>
          <a:p>
            <a:pPr marL="443230" indent="-443230" defTabSz="1950085">
              <a:lnSpc>
                <a:spcPct val="80000"/>
              </a:lnSpc>
              <a:spcBef>
                <a:spcPts val="1050"/>
              </a:spcBef>
              <a:buClr>
                <a:srgbClr val="FFCC00"/>
              </a:buClr>
              <a:buSzPct val="70000"/>
              <a:buFontTx/>
              <a:buAutoNum type="arabicPeriod"/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Helvetica" charset="0"/>
                <a:cs typeface="Helvetica" charset="0"/>
                <a:sym typeface="Helvetica" charset="0"/>
              </a:rPr>
              <a:t>Gain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ea typeface="Helvetica" charset="0"/>
              <a:cs typeface="Helvetica" charset="0"/>
              <a:sym typeface="Helvetica" charset="0"/>
            </a:endParaRPr>
          </a:p>
          <a:p>
            <a:pPr marL="443230" indent="-443230" defTabSz="1950085">
              <a:lnSpc>
                <a:spcPct val="80000"/>
              </a:lnSpc>
              <a:spcBef>
                <a:spcPts val="1050"/>
              </a:spcBef>
              <a:buClr>
                <a:srgbClr val="FFCC00"/>
              </a:buClr>
              <a:buSzPct val="70000"/>
              <a:buFontTx/>
              <a:buAutoNum type="arabicPeriod"/>
              <a:defRPr/>
            </a:pP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Helvetica" charset="0"/>
                <a:cs typeface="Helvetica" charset="0"/>
                <a:sym typeface="Helvetica" charset="0"/>
              </a:rPr>
              <a:t>Harmonic imaging 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  <a:ea typeface="Helvetica" charset="0"/>
                <a:cs typeface="Helvetica" charset="0"/>
                <a:sym typeface="Wingdings" panose="05000000000000000000" pitchFamily="2" charset="2"/>
              </a:rPr>
              <a:t> High contrast, high spatial resolution and low noise</a:t>
            </a:r>
            <a:endParaRPr lang="en-US" dirty="0">
              <a:effectLst>
                <a:outerShdw blurRad="38100" dist="38100" dir="2700000" algn="tl">
                  <a:srgbClr val="000000"/>
                </a:outerShdw>
              </a:effectLst>
              <a:ea typeface="Helvetica" charset="0"/>
              <a:cs typeface="Helvetica" charset="0"/>
              <a:sym typeface="Helvetica" charset="0"/>
            </a:endParaRPr>
          </a:p>
        </p:txBody>
      </p:sp>
      <p:pic>
        <p:nvPicPr>
          <p:cNvPr id="4" name="Picture 2" descr="C:\Documents and Settings\Rahmi Afifi\My Documents\Foto usgfis\THI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486400" y="5829300"/>
            <a:ext cx="4868562" cy="26257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5242446" cy="1988345"/>
          </a:xfrm>
        </p:spPr>
        <p:txBody>
          <a:bodyPr/>
          <a:lstStyle/>
          <a:p>
            <a:r>
              <a:rPr lang="en-US" dirty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1" y="2738438"/>
            <a:ext cx="7043951" cy="6527007"/>
          </a:xfrm>
        </p:spPr>
        <p:txBody>
          <a:bodyPr/>
          <a:lstStyle/>
          <a:p>
            <a:r>
              <a:rPr lang="en-US" dirty="0"/>
              <a:t>Mostly noninvasive</a:t>
            </a:r>
            <a:endParaRPr lang="en-US" dirty="0"/>
          </a:p>
          <a:p>
            <a:r>
              <a:rPr lang="en-US" dirty="0"/>
              <a:t>Widely available, easy to use and less expensive (relative)</a:t>
            </a:r>
            <a:endParaRPr lang="en-US" dirty="0"/>
          </a:p>
          <a:p>
            <a:r>
              <a:rPr lang="en-US" dirty="0"/>
              <a:t>Does not use ionizing radiation</a:t>
            </a:r>
            <a:endParaRPr lang="en-US" dirty="0"/>
          </a:p>
          <a:p>
            <a:r>
              <a:rPr lang="en-US" dirty="0"/>
              <a:t>Gives clear soft tissues image better than x ray</a:t>
            </a:r>
            <a:endParaRPr lang="en-US" dirty="0"/>
          </a:p>
          <a:p>
            <a:r>
              <a:rPr lang="en-US" dirty="0"/>
              <a:t>Real-time imaging </a:t>
            </a:r>
            <a:r>
              <a:rPr lang="en-US" dirty="0">
                <a:sym typeface="Wingdings" panose="05000000000000000000" pitchFamily="2" charset="2"/>
              </a:rPr>
              <a:t> guide biopsies</a:t>
            </a:r>
            <a:endParaRPr lang="en-US" dirty="0"/>
          </a:p>
        </p:txBody>
      </p:sp>
      <p:sp>
        <p:nvSpPr>
          <p:cNvPr id="4" name="Title 1"/>
          <p:cNvSpPr txBox="1"/>
          <p:nvPr/>
        </p:nvSpPr>
        <p:spPr>
          <a:xfrm>
            <a:off x="10776613" y="394151"/>
            <a:ext cx="4689713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/>
              <a:t>Limitations</a:t>
            </a:r>
            <a:endParaRPr lang="en-US" sz="6600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9144001" y="2754147"/>
            <a:ext cx="8958050" cy="6527007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dirty="0">
                <a:solidFill>
                  <a:srgbClr val="FF0000"/>
                </a:solidFill>
              </a:rPr>
              <a:t>Operator dependent</a:t>
            </a:r>
            <a:endParaRPr lang="en-US" sz="4200" dirty="0">
              <a:solidFill>
                <a:srgbClr val="FF0000"/>
              </a:solidFill>
            </a:endParaRPr>
          </a:p>
          <a:p>
            <a:r>
              <a:rPr lang="en-US" sz="4200" dirty="0"/>
              <a:t>US waves are disrupted by air / gas </a:t>
            </a:r>
            <a:r>
              <a:rPr lang="en-US" sz="4200" dirty="0">
                <a:sym typeface="Wingdings" panose="05000000000000000000" pitchFamily="2" charset="2"/>
              </a:rPr>
              <a:t> not ideal imaging technique for bowel / organs obscured by the bowel</a:t>
            </a:r>
            <a:endParaRPr lang="en-US" sz="4200" dirty="0">
              <a:sym typeface="Wingdings" panose="05000000000000000000" pitchFamily="2" charset="2"/>
            </a:endParaRPr>
          </a:p>
          <a:p>
            <a:r>
              <a:rPr lang="en-US" sz="4200" dirty="0">
                <a:sym typeface="Wingdings" panose="05000000000000000000" pitchFamily="2" charset="2"/>
              </a:rPr>
              <a:t>Large patients  Low image quality </a:t>
            </a:r>
            <a:r>
              <a:rPr lang="en-US" sz="4200" dirty="0" err="1">
                <a:sym typeface="Wingdings" panose="05000000000000000000" pitchFamily="2" charset="2"/>
              </a:rPr>
              <a:t>ec</a:t>
            </a:r>
            <a:r>
              <a:rPr lang="en-US" sz="4200" dirty="0">
                <a:sym typeface="Wingdings" panose="05000000000000000000" pitchFamily="2" charset="2"/>
              </a:rPr>
              <a:t> greater amounts of tissue attenuates (weakens) the sound waves</a:t>
            </a:r>
            <a:endParaRPr lang="en-US" sz="4200" dirty="0">
              <a:sym typeface="Wingdings" panose="05000000000000000000" pitchFamily="2" charset="2"/>
            </a:endParaRPr>
          </a:p>
          <a:p>
            <a:r>
              <a:rPr lang="en-US" sz="4200" dirty="0">
                <a:sym typeface="Wingdings" panose="05000000000000000000" pitchFamily="2" charset="2"/>
              </a:rPr>
              <a:t>Difficulty penetrating bone</a:t>
            </a:r>
            <a:endParaRPr lang="en-US" sz="4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Thyroid gland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299" y="2738438"/>
            <a:ext cx="9161412" cy="6527007"/>
          </a:xfrm>
        </p:spPr>
        <p:txBody>
          <a:bodyPr>
            <a:normAutofit/>
          </a:bodyPr>
          <a:lstStyle/>
          <a:p>
            <a:r>
              <a:rPr lang="en-ID" sz="3000" dirty="0"/>
              <a:t>Endocrine organ </a:t>
            </a:r>
            <a:r>
              <a:rPr lang="en-ID" sz="3000" dirty="0">
                <a:sym typeface="Wingdings" panose="05000000000000000000" pitchFamily="2" charset="2"/>
              </a:rPr>
              <a:t> </a:t>
            </a:r>
            <a:r>
              <a:rPr lang="en-ID" sz="3000" dirty="0"/>
              <a:t>thyroid hormone production. </a:t>
            </a:r>
            <a:endParaRPr lang="en-ID" sz="3000" dirty="0"/>
          </a:p>
          <a:p>
            <a:r>
              <a:rPr lang="en-ID" sz="3000" dirty="0"/>
              <a:t>Enveloped by the </a:t>
            </a:r>
            <a:r>
              <a:rPr lang="en-ID" sz="3000" dirty="0" err="1"/>
              <a:t>pretracheal</a:t>
            </a:r>
            <a:r>
              <a:rPr lang="en-ID" sz="3000" dirty="0"/>
              <a:t> fascia</a:t>
            </a:r>
            <a:endParaRPr lang="en-ID" sz="3000" dirty="0"/>
          </a:p>
          <a:p>
            <a:r>
              <a:rPr lang="en-ID" sz="3000" dirty="0"/>
              <a:t>Extend from C5 to T1 </a:t>
            </a:r>
            <a:r>
              <a:rPr lang="en-ID" sz="3000" dirty="0">
                <a:sym typeface="Wingdings" panose="05000000000000000000" pitchFamily="2" charset="2"/>
              </a:rPr>
              <a:t> </a:t>
            </a:r>
            <a:r>
              <a:rPr lang="en-ID" sz="3000" dirty="0"/>
              <a:t>anterior to thyroid and </a:t>
            </a:r>
            <a:r>
              <a:rPr lang="en-ID" sz="3000" dirty="0" err="1"/>
              <a:t>cricoic</a:t>
            </a:r>
            <a:r>
              <a:rPr lang="en-ID" sz="3000" dirty="0"/>
              <a:t> cartilages of larynx</a:t>
            </a:r>
            <a:endParaRPr lang="en-ID" sz="3000" dirty="0"/>
          </a:p>
          <a:p>
            <a:r>
              <a:rPr lang="en-ID" sz="3000" dirty="0"/>
              <a:t>Butterfly or "H"-shaped </a:t>
            </a:r>
            <a:r>
              <a:rPr lang="en-ID" sz="3000" dirty="0">
                <a:sym typeface="Wingdings" panose="05000000000000000000" pitchFamily="2" charset="2"/>
              </a:rPr>
              <a:t> </a:t>
            </a:r>
            <a:r>
              <a:rPr lang="en-ID" sz="3000" dirty="0"/>
              <a:t>two lobes (each +/- 4 cm in length) </a:t>
            </a:r>
            <a:r>
              <a:rPr lang="en-ID" sz="3000" dirty="0">
                <a:sym typeface="Wingdings" panose="05000000000000000000" pitchFamily="2" charset="2"/>
              </a:rPr>
              <a:t> </a:t>
            </a:r>
            <a:r>
              <a:rPr lang="en-ID" sz="3000" dirty="0"/>
              <a:t>connected by Isthmus. </a:t>
            </a:r>
            <a:endParaRPr lang="en-ID" sz="3000" dirty="0"/>
          </a:p>
          <a:p>
            <a:r>
              <a:rPr lang="en-ID" sz="3000" dirty="0"/>
              <a:t>Arterial supply</a:t>
            </a:r>
            <a:endParaRPr lang="en-ID" sz="3000" dirty="0"/>
          </a:p>
          <a:p>
            <a:pPr lvl="1"/>
            <a:r>
              <a:rPr lang="en-ID" sz="2400" dirty="0"/>
              <a:t>A. Superior thyroid ( from External carotid)</a:t>
            </a:r>
            <a:endParaRPr lang="en-ID" sz="2400" dirty="0"/>
          </a:p>
          <a:p>
            <a:pPr lvl="1"/>
            <a:r>
              <a:rPr lang="en-ID" sz="2400" dirty="0"/>
              <a:t>A. Inferior thyroid ( from Thyrocervical trunk)</a:t>
            </a:r>
            <a:endParaRPr lang="en-ID" sz="2400" dirty="0"/>
          </a:p>
          <a:p>
            <a:r>
              <a:rPr lang="en-ID" sz="3000" dirty="0"/>
              <a:t>Venous drainage</a:t>
            </a:r>
            <a:endParaRPr lang="en-ID" sz="3000" dirty="0"/>
          </a:p>
          <a:p>
            <a:pPr lvl="1"/>
            <a:r>
              <a:rPr lang="en-ID" sz="2400" dirty="0"/>
              <a:t>Superior and Middle thyroid ( to Internal jugular vein)</a:t>
            </a:r>
            <a:endParaRPr lang="en-ID" sz="2400" dirty="0"/>
          </a:p>
          <a:p>
            <a:pPr lvl="1"/>
            <a:r>
              <a:rPr lang="en-ID" sz="2400" dirty="0"/>
              <a:t>Inferior thyroid ( to </a:t>
            </a:r>
            <a:r>
              <a:rPr lang="en-ID" sz="2400" dirty="0" err="1"/>
              <a:t>brachiosefalic</a:t>
            </a:r>
            <a:r>
              <a:rPr lang="en-ID" sz="2400" dirty="0"/>
              <a:t> vein)</a:t>
            </a:r>
            <a:endParaRPr lang="en-ID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6571" y="721589"/>
            <a:ext cx="4824380" cy="4310306"/>
          </a:xfrm>
          <a:prstGeom prst="rect">
            <a:avLst/>
          </a:prstGeom>
        </p:spPr>
      </p:pic>
      <p:pic>
        <p:nvPicPr>
          <p:cNvPr id="6" name="Picture 5" descr="Thyroid Gland and Ultrasound Applications | Pocket Dentis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415" y="5682302"/>
            <a:ext cx="6164537" cy="3789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92240" y="871985"/>
            <a:ext cx="9445526" cy="1689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5300" dirty="0" err="1">
                <a:latin typeface="Raleway" pitchFamily="34" charset="0"/>
                <a:ea typeface="Raleway" pitchFamily="34" charset="-122"/>
                <a:cs typeface="Raleway" pitchFamily="34" charset="-120"/>
              </a:rPr>
              <a:t>ACR</a:t>
            </a:r>
            <a:r>
              <a:rPr lang="en-US" sz="53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 TI-RADS: Basic Principles</a:t>
            </a:r>
            <a:endParaRPr lang="en-US" sz="5300" dirty="0"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92238" y="2561185"/>
            <a:ext cx="14453616" cy="64473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Goal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Improve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consistency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of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thyroid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nodule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evaluation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and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classification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on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ultrasound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Provides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specific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management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recommendations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for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each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thyroid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nodule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Nodules are assessed </a:t>
            </a:r>
            <a:r>
              <a:rPr lang="en-US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Wingdings" panose="05000000000000000000" pitchFamily="2" charset="2"/>
              </a:rPr>
              <a:t>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5 sonographic feature categories:</a:t>
            </a: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542925" lvl="1" indent="-355600"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Composition</a:t>
            </a: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542925" lvl="1" indent="-355600"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Echogenicity</a:t>
            </a: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542925" lvl="1" indent="-355600"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Shape</a:t>
            </a: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542925" lvl="1" indent="-355600"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Margin</a:t>
            </a: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542925" lvl="1" indent="-355600">
              <a:lnSpc>
                <a:spcPct val="12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Echogenic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foci</a:t>
            </a: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Each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feature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is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assigned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0–3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points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according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its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association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with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malignancy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risk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Total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score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→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category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TR1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–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TR5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) →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management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recommendation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follow-up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or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id-ID" sz="2400" dirty="0" err="1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FNA</a:t>
            </a:r>
            <a:r>
              <a:rPr lang="id-ID" sz="24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).</a:t>
            </a:r>
            <a:endParaRPr lang="id-ID" sz="24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92240" y="871985"/>
            <a:ext cx="14412671" cy="1689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53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Why We Need Risk Stratification</a:t>
            </a:r>
            <a:endParaRPr lang="en-US" sz="5300" dirty="0"/>
          </a:p>
        </p:txBody>
      </p:sp>
      <p:sp>
        <p:nvSpPr>
          <p:cNvPr id="5" name="Text 2"/>
          <p:cNvSpPr/>
          <p:nvPr/>
        </p:nvSpPr>
        <p:spPr>
          <a:xfrm>
            <a:off x="992239" y="2713368"/>
            <a:ext cx="4393109" cy="422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The Scope of the Problem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992239" y="3792590"/>
            <a:ext cx="7433858" cy="44539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sz="21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Thyroid nodules are found in as many as </a:t>
            </a:r>
            <a:r>
              <a:rPr lang="en-US" sz="21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68% of high-resolution ultrasound scans</a:t>
            </a:r>
            <a:r>
              <a:rPr lang="en-US" sz="21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making them one of the most common incidental findings in radiology practice.</a:t>
            </a:r>
            <a:endParaRPr lang="en-US" sz="2100" dirty="0"/>
          </a:p>
          <a:p>
            <a:pPr>
              <a:lnSpc>
                <a:spcPct val="130000"/>
              </a:lnSpc>
            </a:pPr>
            <a:r>
              <a:rPr lang="en-US" sz="21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Without a consistent framework, management decisions become arbitrary and patients face unnecessary procedures or inadequate follow-up.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11305157" y="2582531"/>
            <a:ext cx="4393109" cy="422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A Fragmented Landscape</a:t>
            </a:r>
            <a:endParaRPr lang="en-US" sz="2600" dirty="0"/>
          </a:p>
        </p:txBody>
      </p:sp>
      <p:sp>
        <p:nvSpPr>
          <p:cNvPr id="11" name="Text 5"/>
          <p:cNvSpPr/>
          <p:nvPr/>
        </p:nvSpPr>
        <p:spPr>
          <a:xfrm>
            <a:off x="9457899" y="3700469"/>
            <a:ext cx="8526438" cy="52984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lang="en-US" sz="21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Over the past two decades, professional organizations worldwide developed a </a:t>
            </a:r>
            <a:r>
              <a:rPr lang="en-US" sz="21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multitude of independent risk stratification systems (RSSs)</a:t>
            </a:r>
            <a:r>
              <a:rPr lang="en-US" sz="21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each yielding different management recommendations for identical nodules.</a:t>
            </a:r>
            <a:endParaRPr lang="en-US" sz="2100" dirty="0"/>
          </a:p>
          <a:p>
            <a:pPr>
              <a:lnSpc>
                <a:spcPct val="130000"/>
              </a:lnSpc>
            </a:pPr>
            <a:r>
              <a:rPr lang="en-US" sz="21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result: confusion for practitioners and patients alike, and wide variation in biopsy rates across institutions.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4857594" y="-3379558"/>
            <a:ext cx="7954680" cy="166047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240" y="779711"/>
            <a:ext cx="16303526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8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ACR TI-RADS: The Points-Based Approach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114427" y="2460176"/>
            <a:ext cx="7146281" cy="7817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Why Points-Based?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823438" y="3977261"/>
            <a:ext cx="15010848" cy="45754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sz="27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Ensures every nodule receives a classification.</a:t>
            </a:r>
            <a:endParaRPr lang="en-US" sz="27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spcAft>
                <a:spcPts val="500"/>
              </a:spcAft>
            </a:pPr>
            <a:endParaRPr lang="en-US" sz="2700" dirty="0"/>
          </a:p>
          <a:p>
            <a:pPr>
              <a:spcAft>
                <a:spcPts val="500"/>
              </a:spcAft>
            </a:pPr>
            <a:r>
              <a:rPr lang="en-US" sz="27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By contrast, ATA guidelines left </a:t>
            </a:r>
            <a:r>
              <a:rPr lang="en-US" sz="27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13.9% of nodules unclassifiable</a:t>
            </a:r>
            <a:r>
              <a:rPr lang="en-US" sz="27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while K-TIRADS left 3.9% unclassified. ACR TI-RADS eliminates this gap entirely.</a:t>
            </a:r>
            <a:endParaRPr lang="en-US" sz="2700" dirty="0"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spcAft>
                <a:spcPts val="500"/>
              </a:spcAft>
            </a:pPr>
            <a:endParaRPr lang="en-US" sz="2700" dirty="0"/>
          </a:p>
          <a:p>
            <a:r>
              <a:rPr lang="en-US" sz="27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Five risk tiers (TR1–TR5) map directly to clear FNA and surveillance thresholds, reducing ambiguity at the point of care.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92240" y="848917"/>
            <a:ext cx="15021872" cy="1716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54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Key Advantage: Higher Size Thresholds</a:t>
            </a:r>
            <a:endParaRPr lang="en-US" sz="5400" dirty="0"/>
          </a:p>
        </p:txBody>
      </p:sp>
      <p:sp>
        <p:nvSpPr>
          <p:cNvPr id="5" name="Shape 2"/>
          <p:cNvSpPr/>
          <p:nvPr/>
        </p:nvSpPr>
        <p:spPr>
          <a:xfrm>
            <a:off x="992240" y="2964511"/>
            <a:ext cx="6992108" cy="3752702"/>
          </a:xfrm>
          <a:prstGeom prst="roundRect">
            <a:avLst>
              <a:gd name="adj" fmla="val 307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6" name="Text 3"/>
          <p:cNvSpPr/>
          <p:nvPr/>
        </p:nvSpPr>
        <p:spPr>
          <a:xfrm>
            <a:off x="2188142" y="3127701"/>
            <a:ext cx="4021484" cy="429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Evidence Base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276351" y="3837238"/>
            <a:ext cx="5845070" cy="25958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Thyroid cancer carries a </a:t>
            </a:r>
            <a:r>
              <a:rPr lang="en-US" sz="2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10-year relative survival of 99.4%</a:t>
            </a:r>
            <a:r>
              <a: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for tumors smaller than 3 cm. </a:t>
            </a:r>
            <a:endParaRPr lang="en-US" sz="21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>
              <a:lnSpc>
                <a:spcPct val="131000"/>
              </a:lnSpc>
            </a:pPr>
            <a:r>
              <a: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Mortality does not exceed baseline until tumors surpass 2.5 cm.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408615" y="2897981"/>
            <a:ext cx="7250421" cy="3752702"/>
          </a:xfrm>
          <a:prstGeom prst="roundRect">
            <a:avLst>
              <a:gd name="adj" fmla="val 307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9" name="Text 6"/>
          <p:cNvSpPr/>
          <p:nvPr/>
        </p:nvSpPr>
        <p:spPr>
          <a:xfrm>
            <a:off x="10882660" y="3127701"/>
            <a:ext cx="4021634" cy="429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Larger Biopsy Cutoffs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810119" y="4118822"/>
            <a:ext cx="6621831" cy="21632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ACR TI-RADS sets the TR3 FNA threshold at </a:t>
            </a:r>
            <a:r>
              <a:rPr lang="en-US" sz="2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2.5 cm</a:t>
            </a:r>
            <a:r>
              <a: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compared to 1.5 cm under ATA guidelines — directly reflecting this survival data.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92240" y="6983165"/>
            <a:ext cx="12841845" cy="2454773"/>
          </a:xfrm>
          <a:prstGeom prst="roundRect">
            <a:avLst>
              <a:gd name="adj" fmla="val 470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12" name="Text 9"/>
          <p:cNvSpPr/>
          <p:nvPr/>
        </p:nvSpPr>
        <p:spPr>
          <a:xfrm>
            <a:off x="1276350" y="7267278"/>
            <a:ext cx="8877300" cy="429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Biopsy Reduction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276349" y="7855894"/>
            <a:ext cx="11968802" cy="129793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r>
              <a: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Grani et al.: The higher thresholds translate to a </a:t>
            </a:r>
            <a:r>
              <a:rPr lang="en-US" sz="2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19.9–46.5% reduction</a:t>
            </a:r>
            <a:r>
              <a: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in unnecessary biopsies compared to other leading risk stratification systems, with the </a:t>
            </a:r>
            <a:r>
              <a:rPr lang="en-US" sz="2100" b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lowest false-negative rate (2.2%)</a:t>
            </a:r>
            <a:endParaRPr lang="en-US" sz="21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240" y="1359547"/>
            <a:ext cx="16303526" cy="885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55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Evidence: Biopsy Reduction Across Studies</a:t>
            </a:r>
            <a:endParaRPr lang="en-US" sz="5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31" y="2954239"/>
            <a:ext cx="8335370" cy="5618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99403" y="2954239"/>
            <a:ext cx="7805886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ACR Registry: 32,746 Nodules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9499403" y="3680669"/>
            <a:ext cx="7805886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 the largest comparative analysis, ACR TI-RADS recommended biopsy in only </a:t>
            </a:r>
            <a:r>
              <a:rPr lang="en-US" sz="2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26% of nodules</a:t>
            </a: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half the rate of ATA guidelines (51%) and K-TIRADS (50%).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499403" y="5325071"/>
            <a:ext cx="7805886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Grani et al. (502 Nodules)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499403" y="6051500"/>
            <a:ext cx="7805886" cy="1814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ACR TI-RADS achieved the </a:t>
            </a:r>
            <a:r>
              <a:rPr lang="en-US" sz="2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lowest benign biopsy rate at 43.8%</a:t>
            </a: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versus 54.7% for ATA, 68.0% for EU-TIRADS, and 82.2% for K-TIRADS — reducing unnecessary procedures by 17.1–53.4%.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ccurate TI-RADS Calculator for Thyroid Nodule Assessment on US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6823" y="250656"/>
            <a:ext cx="11906577" cy="94253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511" y="0"/>
            <a:ext cx="1408897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408" y="368150"/>
            <a:ext cx="7175868" cy="5842301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990600" y="6730373"/>
            <a:ext cx="6083484" cy="3188478"/>
            <a:chOff x="6026058" y="3094617"/>
            <a:chExt cx="2294930" cy="1375246"/>
          </a:xfrm>
        </p:grpSpPr>
        <p:sp>
          <p:nvSpPr>
            <p:cNvPr id="5" name="Shape 5"/>
            <p:cNvSpPr/>
            <p:nvPr/>
          </p:nvSpPr>
          <p:spPr>
            <a:xfrm>
              <a:off x="6026058" y="3094617"/>
              <a:ext cx="2294930" cy="1375246"/>
            </a:xfrm>
            <a:prstGeom prst="roundRect">
              <a:avLst>
                <a:gd name="adj" fmla="val 3074"/>
              </a:avLst>
            </a:prstGeom>
            <a:solidFill>
              <a:srgbClr val="E1E1EA"/>
            </a:solidFill>
            <a:ln w="4763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id-ID" sz="6400"/>
            </a:p>
          </p:txBody>
        </p:sp>
        <p:sp>
          <p:nvSpPr>
            <p:cNvPr id="6" name="Text 7"/>
            <p:cNvSpPr/>
            <p:nvPr/>
          </p:nvSpPr>
          <p:spPr>
            <a:xfrm>
              <a:off x="6026058" y="3175241"/>
              <a:ext cx="2294930" cy="12436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70000" lnSpcReduction="20000"/>
            </a:bodyPr>
            <a:lstStyle/>
            <a:p>
              <a:pPr algn="ctr">
                <a:lnSpc>
                  <a:spcPct val="131000"/>
                </a:lnSpc>
              </a:pPr>
              <a:r>
                <a:rPr lang="en-US" sz="40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Mixed cystic-solid (1)</a:t>
              </a:r>
              <a:endParaRPr lang="en-US" sz="4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40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Isoechoic (1)</a:t>
              </a:r>
              <a:endParaRPr lang="en-US" sz="4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40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Comet tail artifact (0)</a:t>
              </a:r>
              <a:endParaRPr lang="en-US" sz="4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endPara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52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TI-RADS 2</a:t>
              </a:r>
              <a:endParaRPr lang="en-US" sz="5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46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No </a:t>
              </a:r>
              <a:r>
                <a:rPr lang="en-US" sz="4600" dirty="0" err="1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FNA</a:t>
              </a:r>
              <a:r>
                <a:rPr lang="en-US" sz="46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 or follow up</a:t>
              </a:r>
              <a:endParaRPr lang="en-US" sz="46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167" y="368150"/>
            <a:ext cx="8288946" cy="584230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0972800" y="6764783"/>
            <a:ext cx="6083484" cy="3188478"/>
            <a:chOff x="6026058" y="3094617"/>
            <a:chExt cx="2294930" cy="1375246"/>
          </a:xfrm>
        </p:grpSpPr>
        <p:sp>
          <p:nvSpPr>
            <p:cNvPr id="10" name="Shape 5"/>
            <p:cNvSpPr/>
            <p:nvPr/>
          </p:nvSpPr>
          <p:spPr>
            <a:xfrm>
              <a:off x="6026058" y="3094617"/>
              <a:ext cx="2294930" cy="1375246"/>
            </a:xfrm>
            <a:prstGeom prst="roundRect">
              <a:avLst>
                <a:gd name="adj" fmla="val 3074"/>
              </a:avLst>
            </a:prstGeom>
            <a:solidFill>
              <a:srgbClr val="E1E1EA"/>
            </a:solidFill>
            <a:ln w="4763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id-ID" sz="6400"/>
            </a:p>
          </p:txBody>
        </p:sp>
        <p:sp>
          <p:nvSpPr>
            <p:cNvPr id="11" name="Text 7"/>
            <p:cNvSpPr/>
            <p:nvPr/>
          </p:nvSpPr>
          <p:spPr>
            <a:xfrm>
              <a:off x="6026058" y="3175241"/>
              <a:ext cx="2294930" cy="12436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77500" lnSpcReduction="20000"/>
            </a:bodyPr>
            <a:lstStyle/>
            <a:p>
              <a:pPr algn="ctr">
                <a:lnSpc>
                  <a:spcPct val="131000"/>
                </a:lnSpc>
              </a:pPr>
              <a:r>
                <a:rPr lang="en-US" sz="32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Mixed cystic-solid (1)</a:t>
              </a:r>
              <a:endParaRPr lang="en-US" sz="3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32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hypoechoic (3)</a:t>
              </a:r>
              <a:endParaRPr lang="en-US" sz="3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endParaRPr lang="en-US" sz="1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40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TI-RADS 3</a:t>
              </a:r>
              <a:endParaRPr lang="en-US" sz="4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42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FNA at 2.5 cm and </a:t>
              </a:r>
              <a:endParaRPr lang="en-US" sz="4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42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follow up at 1.5 cm</a:t>
              </a:r>
              <a:endParaRPr lang="en-US" sz="4200" dirty="0"/>
            </a:p>
            <a:p>
              <a:pPr algn="ctr">
                <a:lnSpc>
                  <a:spcPct val="131000"/>
                </a:lnSpc>
              </a:pPr>
              <a:endParaRPr lang="en-US" sz="4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370030" y="1727203"/>
            <a:ext cx="3247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Back wall of cyst</a:t>
            </a:r>
            <a:endParaRPr lang="id-ID" sz="36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09049" y="1357870"/>
            <a:ext cx="25639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Cystic region</a:t>
            </a:r>
            <a:endParaRPr lang="id-ID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2" y="640139"/>
            <a:ext cx="7137767" cy="5296172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1367047" y="6189233"/>
            <a:ext cx="5525051" cy="3240041"/>
            <a:chOff x="6026058" y="3094617"/>
            <a:chExt cx="2294930" cy="1375246"/>
          </a:xfrm>
        </p:grpSpPr>
        <p:sp>
          <p:nvSpPr>
            <p:cNvPr id="5" name="Shape 5"/>
            <p:cNvSpPr/>
            <p:nvPr/>
          </p:nvSpPr>
          <p:spPr>
            <a:xfrm>
              <a:off x="6026058" y="3094617"/>
              <a:ext cx="2294930" cy="1375246"/>
            </a:xfrm>
            <a:prstGeom prst="roundRect">
              <a:avLst>
                <a:gd name="adj" fmla="val 3074"/>
              </a:avLst>
            </a:prstGeom>
            <a:solidFill>
              <a:srgbClr val="E1E1EA"/>
            </a:solidFill>
            <a:ln w="4763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id-ID" sz="3600"/>
            </a:p>
          </p:txBody>
        </p:sp>
        <p:sp>
          <p:nvSpPr>
            <p:cNvPr id="7" name="Text 7"/>
            <p:cNvSpPr/>
            <p:nvPr/>
          </p:nvSpPr>
          <p:spPr>
            <a:xfrm>
              <a:off x="6026059" y="3226180"/>
              <a:ext cx="2294929" cy="12436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6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Mixed cystic-solid (1)</a:t>
              </a:r>
              <a:endParaRPr lang="en-US" sz="26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26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Isoechoic (1)</a:t>
              </a:r>
              <a:endParaRPr lang="en-US" sz="26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26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Lobulated margin (2)</a:t>
              </a:r>
              <a:endParaRPr lang="en-US" sz="26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10000"/>
                </a:lnSpc>
              </a:pPr>
              <a:endParaRPr lang="en-US" sz="2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34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TI-RADS 4</a:t>
              </a:r>
              <a:endParaRPr lang="en-US" sz="34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2800" dirty="0" err="1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FNA</a:t>
              </a:r>
              <a:r>
                <a:rPr lang="en-US" sz="28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 at 1,5 cm and </a:t>
              </a:r>
              <a:endParaRPr lang="en-US" sz="2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10000"/>
                </a:lnSpc>
              </a:pPr>
              <a:r>
                <a:rPr lang="en-US" sz="28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follow up at 1.0 cm</a:t>
              </a:r>
              <a:endParaRPr lang="en-US" sz="2800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68" y="640137"/>
            <a:ext cx="8363159" cy="5296170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1953116" y="6369993"/>
            <a:ext cx="6083484" cy="3188478"/>
            <a:chOff x="6026058" y="3094617"/>
            <a:chExt cx="2294930" cy="1375246"/>
          </a:xfrm>
        </p:grpSpPr>
        <p:sp>
          <p:nvSpPr>
            <p:cNvPr id="12" name="Shape 5"/>
            <p:cNvSpPr/>
            <p:nvPr/>
          </p:nvSpPr>
          <p:spPr>
            <a:xfrm>
              <a:off x="6026058" y="3094617"/>
              <a:ext cx="2294930" cy="1375246"/>
            </a:xfrm>
            <a:prstGeom prst="roundRect">
              <a:avLst>
                <a:gd name="adj" fmla="val 3074"/>
              </a:avLst>
            </a:prstGeom>
            <a:solidFill>
              <a:srgbClr val="E1E1EA"/>
            </a:solidFill>
            <a:ln w="4763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id-ID" sz="6400"/>
            </a:p>
          </p:txBody>
        </p:sp>
        <p:sp>
          <p:nvSpPr>
            <p:cNvPr id="13" name="Text 7"/>
            <p:cNvSpPr/>
            <p:nvPr/>
          </p:nvSpPr>
          <p:spPr>
            <a:xfrm>
              <a:off x="6026058" y="3175241"/>
              <a:ext cx="2294930" cy="124368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70000" lnSpcReduction="20000"/>
            </a:bodyPr>
            <a:lstStyle/>
            <a:p>
              <a:pPr algn="ctr">
                <a:lnSpc>
                  <a:spcPct val="131000"/>
                </a:lnSpc>
              </a:pPr>
              <a:r>
                <a:rPr lang="en-US" sz="40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Solid (2)</a:t>
              </a:r>
              <a:endParaRPr lang="en-US" sz="4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40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Isoechoic (1)</a:t>
              </a:r>
              <a:endParaRPr lang="en-US" sz="40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endPara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52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TI-RADS 3</a:t>
              </a:r>
              <a:endParaRPr lang="en-US" sz="5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3800" dirty="0" err="1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FNA</a:t>
              </a:r>
              <a:r>
                <a:rPr lang="en-US" sz="38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 at 2.5 cm and </a:t>
              </a:r>
              <a:endParaRPr lang="en-US" sz="38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endParaRPr>
            </a:p>
            <a:p>
              <a:pPr algn="ctr">
                <a:lnSpc>
                  <a:spcPct val="131000"/>
                </a:lnSpc>
              </a:pPr>
              <a:r>
                <a:rPr lang="en-US" sz="3800" dirty="0">
                  <a:solidFill>
                    <a:srgbClr val="3C3939"/>
                  </a:solidFill>
                  <a:latin typeface="Roboto" panose="02000000000000000000" pitchFamily="34" charset="0"/>
                  <a:ea typeface="Roboto" panose="02000000000000000000" pitchFamily="34" charset="-122"/>
                  <a:cs typeface="Roboto" panose="02000000000000000000" pitchFamily="34" charset="-120"/>
                </a:rPr>
                <a:t>follow up at 1.5 cm</a:t>
              </a:r>
              <a:endParaRPr lang="en-US" sz="38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92240" y="1974356"/>
            <a:ext cx="16303526" cy="885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55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Safety: Will We Miss Cancers?</a:t>
            </a:r>
            <a:endParaRPr lang="en-US" sz="5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239" y="3427362"/>
            <a:ext cx="5245448" cy="4885284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66255" y="3748981"/>
            <a:ext cx="4449812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Concern</a:t>
            </a:r>
            <a:endParaRPr lang="en-US" sz="2700" dirty="0"/>
          </a:p>
        </p:txBody>
      </p:sp>
      <p:sp>
        <p:nvSpPr>
          <p:cNvPr id="9" name="Text 2"/>
          <p:cNvSpPr/>
          <p:nvPr/>
        </p:nvSpPr>
        <p:spPr>
          <a:xfrm>
            <a:off x="1466255" y="4362005"/>
            <a:ext cx="4449812" cy="1814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Reducing biopsies raises the legitimate question: are we deferring diagnosis of clinically significant malignancies?</a:t>
            </a:r>
            <a:endParaRPr lang="en-US" sz="2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1203" y="3427362"/>
            <a:ext cx="5245448" cy="4885284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6995221" y="3748981"/>
            <a:ext cx="4449812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Built-In Safety Net</a:t>
            </a:r>
            <a:endParaRPr lang="en-US" sz="2700" dirty="0"/>
          </a:p>
        </p:txBody>
      </p:sp>
      <p:sp>
        <p:nvSpPr>
          <p:cNvPr id="15" name="Text 4"/>
          <p:cNvSpPr/>
          <p:nvPr/>
        </p:nvSpPr>
        <p:spPr>
          <a:xfrm>
            <a:off x="6995221" y="4362005"/>
            <a:ext cx="4449812" cy="362902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ACR TI-RADS includes </a:t>
            </a: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explicit follow-up recommendations</a:t>
            </a: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for all nodules that do not meet FNA thresholds. Surveillance is a proven safe strategy for small suspicious nodules and even diagnosed small papillary thyroid cancers, given their indolent biology.</a:t>
            </a:r>
            <a:endParaRPr lang="en-US" sz="2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50167" y="3427362"/>
            <a:ext cx="5245448" cy="4885284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12524185" y="3748981"/>
            <a:ext cx="4449812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Numbers</a:t>
            </a:r>
            <a:endParaRPr lang="en-US" sz="2700" dirty="0"/>
          </a:p>
        </p:txBody>
      </p:sp>
      <p:sp>
        <p:nvSpPr>
          <p:cNvPr id="21" name="Text 6"/>
          <p:cNvSpPr/>
          <p:nvPr/>
        </p:nvSpPr>
        <p:spPr>
          <a:xfrm>
            <a:off x="12524185" y="4362005"/>
            <a:ext cx="4449812" cy="31753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68.2% of malignancies</a:t>
            </a: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received biopsy recommendations. An additional </a:t>
            </a: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21% were captured through surveillance monitoring</a:t>
            </a: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yielding a combined detection pathway of </a:t>
            </a: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89.2%</a:t>
            </a:r>
            <a:r>
              <a:rPr lang="en-US" sz="2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of malignancies addressed under the protocol.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92240" y="860525"/>
            <a:ext cx="13511919" cy="14951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47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The Interobserver Variability Challenge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992240" y="2860179"/>
            <a:ext cx="4430910" cy="7474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3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Reporting Is Not Enough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992238" y="3809405"/>
            <a:ext cx="7257834" cy="37087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  <a:spcAft>
                <a:spcPts val="1400"/>
              </a:spcAft>
            </a:pPr>
            <a:r>
              <a:rPr lang="en-US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Despite the explicit points-based framework, a study of </a:t>
            </a:r>
            <a:r>
              <a:rPr lang="en-US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 nodules interpreted by eight radiologists</a:t>
            </a:r>
            <a:r>
              <a:rPr lang="en-US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revealed only moderate agreement for management decisions (</a:t>
            </a:r>
            <a:r>
              <a:rPr lang="en-US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κ = 0.51</a:t>
            </a:r>
            <a:r>
              <a:rPr lang="en-US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).</a:t>
            </a:r>
            <a:endParaRPr lang="en-US" dirty="0"/>
          </a:p>
          <a:p>
            <a:pPr>
              <a:lnSpc>
                <a:spcPct val="123000"/>
              </a:lnSpc>
            </a:pPr>
            <a:r>
              <a:rPr lang="en-US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Biopsy rates across </a:t>
            </a:r>
            <a:r>
              <a:rPr lang="en-US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seven different practices</a:t>
            </a:r>
            <a:r>
              <a:rPr lang="en-US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using ACR TI-RADS ranged from </a:t>
            </a:r>
            <a:r>
              <a:rPr lang="en-US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4% to 35%</a:t>
            </a:r>
            <a:r>
              <a:rPr lang="en-US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a nine-fold spread that underscores how much interpretation varies in real-world settings.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1871267" y="2708819"/>
            <a:ext cx="4430910" cy="3737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The Weakest Links</a:t>
            </a:r>
            <a:endParaRPr lang="en-US" sz="2300" dirty="0"/>
          </a:p>
        </p:txBody>
      </p:sp>
      <p:sp>
        <p:nvSpPr>
          <p:cNvPr id="11" name="Shape 5"/>
          <p:cNvSpPr/>
          <p:nvPr/>
        </p:nvSpPr>
        <p:spPr>
          <a:xfrm>
            <a:off x="9144000" y="3435694"/>
            <a:ext cx="5734197" cy="1778348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13" name="Text 6"/>
          <p:cNvSpPr/>
          <p:nvPr/>
        </p:nvSpPr>
        <p:spPr>
          <a:xfrm>
            <a:off x="10570631" y="3693427"/>
            <a:ext cx="3933528" cy="3737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Margin</a:t>
            </a:r>
            <a:endParaRPr lang="en-US" sz="2300" dirty="0"/>
          </a:p>
        </p:txBody>
      </p:sp>
      <p:sp>
        <p:nvSpPr>
          <p:cNvPr id="15" name="Text 7"/>
          <p:cNvSpPr/>
          <p:nvPr/>
        </p:nvSpPr>
        <p:spPr>
          <a:xfrm>
            <a:off x="10695978" y="4324867"/>
            <a:ext cx="3933528" cy="7054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κ = 0.25–0.39</a:t>
            </a:r>
            <a:endParaRPr lang="en-US" dirty="0"/>
          </a:p>
          <a:p>
            <a:pPr>
              <a:lnSpc>
                <a:spcPct val="123000"/>
              </a:lnSpc>
            </a:pPr>
            <a:r>
              <a:rPr lang="en-US" i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Fair agreement only</a:t>
            </a:r>
            <a:endParaRPr lang="en-US" dirty="0"/>
          </a:p>
        </p:txBody>
      </p:sp>
      <p:sp>
        <p:nvSpPr>
          <p:cNvPr id="17" name="Shape 8"/>
          <p:cNvSpPr/>
          <p:nvPr/>
        </p:nvSpPr>
        <p:spPr>
          <a:xfrm>
            <a:off x="9144000" y="5376046"/>
            <a:ext cx="5758080" cy="1778348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19" name="Text 9"/>
          <p:cNvSpPr/>
          <p:nvPr/>
        </p:nvSpPr>
        <p:spPr>
          <a:xfrm>
            <a:off x="10695978" y="5560364"/>
            <a:ext cx="3933528" cy="3737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Echogenic Foci</a:t>
            </a:r>
            <a:endParaRPr lang="en-US" sz="2300" dirty="0"/>
          </a:p>
        </p:txBody>
      </p:sp>
      <p:sp>
        <p:nvSpPr>
          <p:cNvPr id="25" name="Text 10"/>
          <p:cNvSpPr/>
          <p:nvPr/>
        </p:nvSpPr>
        <p:spPr>
          <a:xfrm>
            <a:off x="10719861" y="6007930"/>
            <a:ext cx="3933528" cy="7054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κ = 0.25–0.39</a:t>
            </a:r>
            <a:endParaRPr lang="en-US" dirty="0"/>
          </a:p>
          <a:p>
            <a:pPr>
              <a:lnSpc>
                <a:spcPct val="123000"/>
              </a:lnSpc>
            </a:pPr>
            <a:r>
              <a:rPr lang="en-US" i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Most consequential feature</a:t>
            </a:r>
            <a:endParaRPr lang="en-US" dirty="0"/>
          </a:p>
        </p:txBody>
      </p:sp>
      <p:sp>
        <p:nvSpPr>
          <p:cNvPr id="27" name="Shape 11"/>
          <p:cNvSpPr/>
          <p:nvPr/>
        </p:nvSpPr>
        <p:spPr>
          <a:xfrm>
            <a:off x="9120119" y="7356203"/>
            <a:ext cx="5860439" cy="1778348"/>
          </a:xfrm>
          <a:prstGeom prst="roundRect">
            <a:avLst>
              <a:gd name="adj" fmla="val 565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id-ID" sz="3600"/>
          </a:p>
        </p:txBody>
      </p:sp>
      <p:sp>
        <p:nvSpPr>
          <p:cNvPr id="29" name="Text 12"/>
          <p:cNvSpPr/>
          <p:nvPr/>
        </p:nvSpPr>
        <p:spPr>
          <a:xfrm>
            <a:off x="10719861" y="7507559"/>
            <a:ext cx="3933528" cy="3737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Management</a:t>
            </a:r>
            <a:endParaRPr lang="en-US" sz="2300" dirty="0"/>
          </a:p>
        </p:txBody>
      </p:sp>
      <p:sp>
        <p:nvSpPr>
          <p:cNvPr id="31" name="Text 13"/>
          <p:cNvSpPr/>
          <p:nvPr/>
        </p:nvSpPr>
        <p:spPr>
          <a:xfrm>
            <a:off x="10809773" y="7892653"/>
            <a:ext cx="3933528" cy="70544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κ = 0.51</a:t>
            </a:r>
            <a:endParaRPr lang="en-US" dirty="0"/>
          </a:p>
          <a:p>
            <a:pPr>
              <a:lnSpc>
                <a:spcPct val="123000"/>
              </a:lnSpc>
            </a:pPr>
            <a:r>
              <a:rPr lang="en-US" i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Moderate overall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92240" y="1638748"/>
            <a:ext cx="16303526" cy="8859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55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Sources of Variability: Artifacts &amp; Technique</a:t>
            </a:r>
            <a:endParaRPr lang="en-US" sz="5500" dirty="0"/>
          </a:p>
        </p:txBody>
      </p:sp>
      <p:sp>
        <p:nvSpPr>
          <p:cNvPr id="5" name="Text 1"/>
          <p:cNvSpPr/>
          <p:nvPr/>
        </p:nvSpPr>
        <p:spPr>
          <a:xfrm>
            <a:off x="992238" y="3703036"/>
            <a:ext cx="5198268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Comet Tail Artifacts</a:t>
            </a:r>
            <a:endParaRPr lang="en-US" sz="2700" dirty="0"/>
          </a:p>
        </p:txBody>
      </p:sp>
      <p:sp>
        <p:nvSpPr>
          <p:cNvPr id="7" name="Text 2"/>
          <p:cNvSpPr/>
          <p:nvPr/>
        </p:nvSpPr>
        <p:spPr>
          <a:xfrm>
            <a:off x="992238" y="4684550"/>
            <a:ext cx="5198268" cy="31753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Large comet tail artifacts — or high-echogenicity foci from the back wall of tiny cysts — are frequently </a:t>
            </a:r>
            <a:r>
              <a:rPr lang="en-US" sz="2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misread as punctate echogenic foci (PEF)</a:t>
            </a: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Since PEF carry 3 points, this single misclassification can elevate a TR2 nodule to </a:t>
            </a:r>
            <a:r>
              <a:rPr lang="en-US" sz="2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TR4</a:t>
            </a: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triggering biopsy.</a:t>
            </a:r>
            <a:endParaRPr lang="en-US" sz="2200" dirty="0"/>
          </a:p>
        </p:txBody>
      </p:sp>
      <p:sp>
        <p:nvSpPr>
          <p:cNvPr id="9" name="Text 3"/>
          <p:cNvSpPr/>
          <p:nvPr/>
        </p:nvSpPr>
        <p:spPr>
          <a:xfrm>
            <a:off x="6544866" y="3703034"/>
            <a:ext cx="5198268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Scanning Parameters</a:t>
            </a:r>
            <a:endParaRPr lang="en-US" sz="2700" dirty="0"/>
          </a:p>
        </p:txBody>
      </p:sp>
      <p:sp>
        <p:nvSpPr>
          <p:cNvPr id="11" name="Text 4"/>
          <p:cNvSpPr/>
          <p:nvPr/>
        </p:nvSpPr>
        <p:spPr>
          <a:xfrm>
            <a:off x="6393977" y="4742509"/>
            <a:ext cx="5349158" cy="31753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Gain settings, transducer frequency, and post-processing compression </a:t>
            </a:r>
            <a:r>
              <a:rPr lang="en-US" sz="2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significantly affect feature conspicuity</a:t>
            </a: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The same nodule can appear differently depending on equipment and operator technique — before interpretation even begins.</a:t>
            </a:r>
            <a:endParaRPr lang="en-US" sz="2200" dirty="0"/>
          </a:p>
        </p:txBody>
      </p:sp>
      <p:sp>
        <p:nvSpPr>
          <p:cNvPr id="13" name="Text 5"/>
          <p:cNvSpPr/>
          <p:nvPr/>
        </p:nvSpPr>
        <p:spPr>
          <a:xfrm>
            <a:off x="12097494" y="3703034"/>
            <a:ext cx="5198268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Training &amp; Experience</a:t>
            </a:r>
            <a:endParaRPr lang="en-US" sz="2700" dirty="0"/>
          </a:p>
        </p:txBody>
      </p:sp>
      <p:sp>
        <p:nvSpPr>
          <p:cNvPr id="15" name="Text 6"/>
          <p:cNvSpPr/>
          <p:nvPr/>
        </p:nvSpPr>
        <p:spPr>
          <a:xfrm>
            <a:off x="12097495" y="4684550"/>
            <a:ext cx="5349158" cy="22681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Reader expertise matters. </a:t>
            </a:r>
            <a:r>
              <a:rPr lang="en-US" sz="2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Training sessions and consensus discussions</a:t>
            </a:r>
            <a:r>
              <a:rPr lang="en-US" sz="22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demonstrably improve feature assignment accuracy and reduce inter-reader discordance across institutions.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92240" y="779711"/>
            <a:ext cx="7465960" cy="4429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Future Directions: Emerging Technologies</a:t>
            </a:r>
            <a:endParaRPr lang="en-US" sz="2700" dirty="0"/>
          </a:p>
        </p:txBody>
      </p:sp>
      <p:sp>
        <p:nvSpPr>
          <p:cNvPr id="11" name="Text 4"/>
          <p:cNvSpPr/>
          <p:nvPr/>
        </p:nvSpPr>
        <p:spPr>
          <a:xfrm>
            <a:off x="992237" y="8648700"/>
            <a:ext cx="16303526" cy="1066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 dirty="0"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Each technology addresses a distinct limitation of conventional B-mode ultrasound. Elastography offers reproducible stiffness quantification (sensitivity 75–89% in meta-analyses), contrast-enhanced ultrasound interrogates tumor vascularity, and AI-driven point optimization has already demonstrated accuracy gains beyond unmodified ACR TI-RADS — though adoption barriers of time, cost, and regulatory approval remain.</a:t>
            </a:r>
            <a:endParaRPr lang="en-US" sz="2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885" y="1638300"/>
            <a:ext cx="7856733" cy="6725545"/>
          </a:xfrm>
          <a:prstGeom prst="rect">
            <a:avLst/>
          </a:prstGeom>
        </p:spPr>
      </p:pic>
      <p:sp>
        <p:nvSpPr>
          <p:cNvPr id="15" name="Text 1"/>
          <p:cNvSpPr/>
          <p:nvPr/>
        </p:nvSpPr>
        <p:spPr>
          <a:xfrm>
            <a:off x="8853883" y="3275213"/>
            <a:ext cx="3668249" cy="4585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8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Elastography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7" name="Text 2"/>
          <p:cNvSpPr/>
          <p:nvPr/>
        </p:nvSpPr>
        <p:spPr>
          <a:xfrm>
            <a:off x="4976899" y="3560068"/>
            <a:ext cx="3876984" cy="9170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28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Contrast‑Enhanced US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9" name="Text 3"/>
          <p:cNvSpPr/>
          <p:nvPr/>
        </p:nvSpPr>
        <p:spPr>
          <a:xfrm>
            <a:off x="7848600" y="6430590"/>
            <a:ext cx="2771567" cy="9170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28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Artificial Intelligence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39800" y="17709"/>
            <a:ext cx="4648200" cy="1696791"/>
          </a:xfrm>
          <a:custGeom>
            <a:avLst/>
            <a:gdLst/>
            <a:ahLst/>
            <a:cxnLst/>
            <a:rect l="l" t="t" r="r" b="b"/>
            <a:pathLst>
              <a:path w="18662063" h="10719097">
                <a:moveTo>
                  <a:pt x="0" y="0"/>
                </a:moveTo>
                <a:lnTo>
                  <a:pt x="18662063" y="0"/>
                </a:lnTo>
                <a:lnTo>
                  <a:pt x="18662063" y="10719098"/>
                </a:lnTo>
                <a:lnTo>
                  <a:pt x="0" y="1071909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9999"/>
            </a:blip>
            <a:stretch>
              <a:fillRect t="-12791" b="-116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81000" y="266700"/>
            <a:ext cx="2514600" cy="822638"/>
          </a:xfrm>
          <a:custGeom>
            <a:avLst/>
            <a:gdLst/>
            <a:ahLst/>
            <a:cxnLst/>
            <a:rect l="l" t="t" r="r" b="b"/>
            <a:pathLst>
              <a:path w="2447467" h="838257">
                <a:moveTo>
                  <a:pt x="0" y="0"/>
                </a:moveTo>
                <a:lnTo>
                  <a:pt x="2447467" y="0"/>
                </a:lnTo>
                <a:lnTo>
                  <a:pt x="2447467" y="838257"/>
                </a:lnTo>
                <a:lnTo>
                  <a:pt x="0" y="838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64000" y="8953500"/>
            <a:ext cx="1182886" cy="1123286"/>
          </a:xfrm>
          <a:custGeom>
            <a:avLst/>
            <a:gdLst/>
            <a:ahLst/>
            <a:cxnLst/>
            <a:rect l="l" t="t" r="r" b="b"/>
            <a:pathLst>
              <a:path w="1428086" h="1428086">
                <a:moveTo>
                  <a:pt x="0" y="0"/>
                </a:moveTo>
                <a:lnTo>
                  <a:pt x="1428086" y="0"/>
                </a:lnTo>
                <a:lnTo>
                  <a:pt x="1428086" y="1428086"/>
                </a:lnTo>
                <a:lnTo>
                  <a:pt x="0" y="1428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493838" y="419100"/>
            <a:ext cx="4230887" cy="1038746"/>
          </a:xfrm>
          <a:prstGeom prst="rect">
            <a:avLst/>
          </a:prstGeom>
          <a:effectLst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MANAGEMENT OF THYROID NODULES : 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latin typeface="Poppins Light" panose="020B0604020202020204" charset="0"/>
              <a:ea typeface="Poppins Semi-Bold"/>
              <a:cs typeface="Poppins Light" panose="020B0604020202020204" charset="0"/>
              <a:sym typeface="Poppins Semi-Bold"/>
            </a:endParaRPr>
          </a:p>
          <a:p>
            <a:pPr algn="r">
              <a:lnSpc>
                <a:spcPts val="2700"/>
              </a:lnSpc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HOW TO MAKE A GOOD DIAGNOSIS ? </a:t>
            </a:r>
            <a:endParaRPr lang="en-US" sz="1600" b="1" dirty="0">
              <a:solidFill>
                <a:schemeClr val="accent1">
                  <a:lumMod val="75000"/>
                </a:schemeClr>
              </a:solidFill>
              <a:latin typeface="Poppins Light" panose="020B0604020202020204" charset="0"/>
              <a:ea typeface="Poppins Semi-Bold"/>
              <a:cs typeface="Poppins Light" panose="020B0604020202020204" charset="0"/>
              <a:sym typeface="Poppins Semi-Bold"/>
            </a:endParaRPr>
          </a:p>
          <a:p>
            <a:pPr algn="r">
              <a:lnSpc>
                <a:spcPts val="2700"/>
              </a:lnSpc>
            </a:pP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Live Webinar, September 19</a:t>
            </a:r>
            <a:r>
              <a:rPr lang="en-US" sz="1100" b="1" baseline="30000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th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  <a:latin typeface="Poppins Light" panose="020B0604020202020204" charset="0"/>
                <a:ea typeface="Poppins Semi-Bold"/>
                <a:cs typeface="Poppins Light" panose="020B0604020202020204" charset="0"/>
                <a:sym typeface="Poppins Semi-Bold"/>
              </a:rPr>
              <a:t> 2026</a:t>
            </a:r>
            <a:endParaRPr lang="en-US" sz="1100" b="1" dirty="0">
              <a:solidFill>
                <a:schemeClr val="accent1">
                  <a:lumMod val="75000"/>
                </a:schemeClr>
              </a:solidFill>
              <a:latin typeface="Poppins Light" panose="020B0604020202020204" charset="0"/>
              <a:ea typeface="Poppins Semi-Bold"/>
              <a:cs typeface="Poppins Light" panose="020B0604020202020204" charset="0"/>
              <a:sym typeface="Poppins Semi-Bold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5634494" y="3827602"/>
            <a:ext cx="7342037" cy="198834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000"/>
              <a:t>Thank You</a:t>
            </a:r>
            <a:endParaRPr lang="en-US" sz="9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0" y="-190500"/>
            <a:ext cx="8229600" cy="1143000"/>
          </a:xfrm>
        </p:spPr>
        <p:txBody>
          <a:bodyPr/>
          <a:lstStyle/>
          <a:p>
            <a:r>
              <a:rPr lang="en-US" dirty="0"/>
              <a:t>References</a:t>
            </a:r>
            <a:endParaRPr lang="en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876300"/>
            <a:ext cx="14782800" cy="7848600"/>
          </a:xfrm>
        </p:spPr>
        <p:txBody>
          <a:bodyPr>
            <a:noAutofit/>
          </a:bodyPr>
          <a:lstStyle/>
          <a:p>
            <a:r>
              <a:rPr lang="en-ID" sz="1600" dirty="0"/>
              <a:t>1. Hoang JK, Middleton WD, Tessler FN, et al. Update on ACR TIRADS: Successes, Challenges, and Future Directions, From the AJR Special Series on Radiology Reporting and Data Systems. AJR 2021; 216:570–578</a:t>
            </a:r>
            <a:endParaRPr lang="en-ID" sz="1600" dirty="0"/>
          </a:p>
          <a:p>
            <a:r>
              <a:rPr lang="en-ID" sz="1600" dirty="0"/>
              <a:t>2. Tessler FN, Middleton WD, Grant EG, et al. ACR Thyroid Imaging, Reporting and Data System (TI-RADS): white paper of the ACR TI-RADS Committee. J Am Coll </a:t>
            </a:r>
            <a:r>
              <a:rPr lang="en-ID" sz="1600" dirty="0" err="1"/>
              <a:t>Radiol</a:t>
            </a:r>
            <a:r>
              <a:rPr lang="en-ID" sz="1600" dirty="0"/>
              <a:t> 2017; 14:587–595 </a:t>
            </a:r>
            <a:endParaRPr lang="en-ID" sz="1600" dirty="0"/>
          </a:p>
          <a:p>
            <a:r>
              <a:rPr lang="en-ID" sz="1600" dirty="0"/>
              <a:t>3. Grani G, Lamartina L, Ascoli V, et al. Reducing the number of unnecessary thyroid biopsies while improving diagnostic accuracy: toward the “right” TIRADS. J Clin Endocrinol </a:t>
            </a:r>
            <a:r>
              <a:rPr lang="en-ID" sz="1600" dirty="0" err="1"/>
              <a:t>Metab</a:t>
            </a:r>
            <a:r>
              <a:rPr lang="en-ID" sz="1600" dirty="0"/>
              <a:t> 2019; 104:95–102</a:t>
            </a:r>
            <a:endParaRPr lang="en-ID" sz="1600" dirty="0"/>
          </a:p>
          <a:p>
            <a:r>
              <a:rPr lang="en-ID" sz="1600" dirty="0"/>
              <a:t>4. Bahl M, Sosa JA, Nelson RC, Hoang JK. Imaging-detected incidental thyroid nodules that undergo surgery: a single-</a:t>
            </a:r>
            <a:r>
              <a:rPr lang="en-ID" sz="1600" dirty="0" err="1"/>
              <a:t>center</a:t>
            </a:r>
            <a:r>
              <a:rPr lang="en-ID" sz="1600" dirty="0"/>
              <a:t> experience over 1 year. AJNR 2014; 35:2176–2180</a:t>
            </a:r>
            <a:endParaRPr lang="en-ID" sz="1600" dirty="0"/>
          </a:p>
          <a:p>
            <a:r>
              <a:rPr lang="en-ID" sz="1600" dirty="0"/>
              <a:t>5. Vaccarella S, Franceschi S, Bray F, Wild CP, Plummer M, Dal Maso L. World wide thyroid-cancer epidemic? The increasing impact of overdiagnosis. N Engl J Med 2016; 375:614–617 </a:t>
            </a:r>
            <a:endParaRPr lang="en-ID" sz="1600" dirty="0"/>
          </a:p>
          <a:p>
            <a:r>
              <a:rPr lang="en-ID" sz="1600" dirty="0"/>
              <a:t>6. Hoang JK, Nguyen XV, Davies L. Overdiagnosis of thyroid cancer: answers to five key questions. </a:t>
            </a:r>
            <a:r>
              <a:rPr lang="en-ID" sz="1600" dirty="0" err="1"/>
              <a:t>Acad</a:t>
            </a:r>
            <a:r>
              <a:rPr lang="en-ID" sz="1600" dirty="0"/>
              <a:t> </a:t>
            </a:r>
            <a:r>
              <a:rPr lang="en-ID" sz="1600" dirty="0" err="1"/>
              <a:t>Radiol</a:t>
            </a:r>
            <a:r>
              <a:rPr lang="en-ID" sz="1600" dirty="0"/>
              <a:t> 2015; 22:1024–1029 </a:t>
            </a:r>
            <a:endParaRPr lang="en-ID" sz="1600" dirty="0"/>
          </a:p>
          <a:p>
            <a:r>
              <a:rPr lang="en-ID" sz="1600" dirty="0"/>
              <a:t>7. Ahn HS, Kim HJ, Welch HG. Korea’s thyroid-cancer “epidemic”: screening and overdiagnosis. N Engl J Med 2014; 371:1765–1767 </a:t>
            </a:r>
            <a:endParaRPr lang="en-ID" sz="1600" dirty="0"/>
          </a:p>
          <a:p>
            <a:r>
              <a:rPr lang="en-ID" sz="1600" dirty="0"/>
              <a:t>8. Esserman LJ, Thompson IM Jr, Reid B. Overdiagnosis and overtreatment in cancer: an opportunity for improvement. JAMA 2013; 310:797–798 </a:t>
            </a:r>
            <a:endParaRPr lang="en-ID" sz="1600" dirty="0"/>
          </a:p>
          <a:p>
            <a:r>
              <a:rPr lang="en-ID" sz="1600" dirty="0"/>
              <a:t>9. Hoang JK, Nguyen XV. Understanding the risks and harms of management of incidental thyroid nodules: a review. JAMA </a:t>
            </a:r>
            <a:r>
              <a:rPr lang="en-ID" sz="1600" dirty="0" err="1"/>
              <a:t>Otolaryngol</a:t>
            </a:r>
            <a:r>
              <a:rPr lang="en-ID" sz="1600" dirty="0"/>
              <a:t> Head Neck </a:t>
            </a:r>
            <a:r>
              <a:rPr lang="en-ID" sz="1600" dirty="0" err="1"/>
              <a:t>Surg</a:t>
            </a:r>
            <a:r>
              <a:rPr lang="en-ID" sz="1600" dirty="0"/>
              <a:t> 2017; 143:718–724 </a:t>
            </a:r>
            <a:endParaRPr lang="en-ID" sz="1600" dirty="0"/>
          </a:p>
          <a:p>
            <a:r>
              <a:rPr lang="en-ID" sz="1600" dirty="0"/>
              <a:t>10. Middleton WD, </a:t>
            </a:r>
            <a:r>
              <a:rPr lang="en-ID" sz="1600" dirty="0" err="1"/>
              <a:t>Teefey</a:t>
            </a:r>
            <a:r>
              <a:rPr lang="en-ID" sz="1600" dirty="0"/>
              <a:t> SA, Tessler FN, et al. Analysis of malignant thyroid nodules that do not meet ACR TI-RADS criteria for fine needle aspiration. AJR 2020 Jun 30 [published online] </a:t>
            </a:r>
            <a:endParaRPr lang="en-ID" sz="1600" dirty="0"/>
          </a:p>
          <a:p>
            <a:r>
              <a:rPr lang="en-ID" sz="1600" dirty="0"/>
              <a:t>11. </a:t>
            </a:r>
            <a:r>
              <a:rPr lang="en-ID" sz="1600" dirty="0" err="1"/>
              <a:t>Tappouni</a:t>
            </a:r>
            <a:r>
              <a:rPr lang="en-ID" sz="1600" dirty="0"/>
              <a:t> RR, Itri JN, McQueen TS, Lalwani N, Ou JJ. ACR TI-RADS: pitfalls, solutions, and future directions. </a:t>
            </a:r>
            <a:r>
              <a:rPr lang="en-ID" sz="1600" dirty="0" err="1"/>
              <a:t>RadioGraphics</a:t>
            </a:r>
            <a:r>
              <a:rPr lang="en-ID" sz="1600" dirty="0"/>
              <a:t> 2019; 39:2040–2052 </a:t>
            </a:r>
            <a:endParaRPr lang="en-ID" sz="1600" dirty="0"/>
          </a:p>
          <a:p>
            <a:r>
              <a:rPr lang="en-ID" sz="1600" dirty="0"/>
              <a:t>12. Tessler FN, Middleton WD, Grant EG. Thyroid Imaging Reporting and Data System (TI-RADS): a user’s guide. Radiology 2018; 287:29–36 </a:t>
            </a:r>
            <a:endParaRPr lang="en-ID" sz="1600" dirty="0"/>
          </a:p>
          <a:p>
            <a:r>
              <a:rPr lang="en-ID" sz="1600" dirty="0"/>
              <a:t>13. Grant EG, Tessler FN, Hoang JK, et al. Thyroid ultrasound reporting lexicon: white paper of the ACR Thyroid Imaging, Reporting and Data System (TI RADS) Committee. J Am Coll </a:t>
            </a:r>
            <a:r>
              <a:rPr lang="en-ID" sz="1600" dirty="0" err="1"/>
              <a:t>Radiol</a:t>
            </a:r>
            <a:r>
              <a:rPr lang="en-ID" sz="1600" dirty="0"/>
              <a:t> 2015; 12(12 Pt A):1272–1279 </a:t>
            </a:r>
            <a:endParaRPr lang="en-ID" sz="1600" dirty="0"/>
          </a:p>
          <a:p>
            <a:r>
              <a:rPr lang="en-ID" sz="1600" dirty="0"/>
              <a:t>14. Guth S, Theune U, Aberle J, </a:t>
            </a:r>
            <a:r>
              <a:rPr lang="en-ID" sz="1600" dirty="0" err="1"/>
              <a:t>Galach</a:t>
            </a:r>
            <a:r>
              <a:rPr lang="en-ID" sz="1600" dirty="0"/>
              <a:t> A, Bamberger CM. Very high prevalence of thyroid nodules detected by high frequency (13 MHz) ultrasound exam </a:t>
            </a:r>
            <a:r>
              <a:rPr lang="en-ID" sz="1600" dirty="0" err="1"/>
              <a:t>ination</a:t>
            </a:r>
            <a:r>
              <a:rPr lang="en-ID" sz="1600" dirty="0"/>
              <a:t>. </a:t>
            </a:r>
            <a:r>
              <a:rPr lang="en-ID" sz="1600" dirty="0" err="1"/>
              <a:t>Eur</a:t>
            </a:r>
            <a:r>
              <a:rPr lang="en-ID" sz="1600" dirty="0"/>
              <a:t> J Clin Invest 2009; 39:699–706</a:t>
            </a:r>
            <a:endParaRPr lang="en-ID" sz="1600" dirty="0"/>
          </a:p>
          <a:p>
            <a:r>
              <a:rPr lang="en-ID" sz="1600" dirty="0"/>
              <a:t>15. Haugen BR, Alexander EK, Bible KC, et al. 2015 American Thyroid </a:t>
            </a:r>
            <a:r>
              <a:rPr lang="en-ID" sz="1600" dirty="0" err="1"/>
              <a:t>Associa</a:t>
            </a:r>
            <a:r>
              <a:rPr lang="en-ID" sz="1600" dirty="0"/>
              <a:t> </a:t>
            </a:r>
            <a:r>
              <a:rPr lang="en-ID" sz="1600" dirty="0" err="1"/>
              <a:t>tion</a:t>
            </a:r>
            <a:r>
              <a:rPr lang="en-ID" sz="1600" dirty="0"/>
              <a:t> management guidelines for adult patients with thyroid nodules and differentiated thyroid cancer: the American Thyroid Association Guide lines Task Force on Thyroid Nodules and Differentiated Thyroid Cancer. Thyroid 2016; 26:1–133 </a:t>
            </a:r>
            <a:endParaRPr lang="en-ID" sz="1600" dirty="0"/>
          </a:p>
          <a:p>
            <a:r>
              <a:rPr lang="en-ID" sz="1600" dirty="0"/>
              <a:t>16. Qadan L, Ahmed A, Kapila K. Thyroid ultrasound reports: deficiencies and recommendations. Med Princ </a:t>
            </a:r>
            <a:r>
              <a:rPr lang="en-ID" sz="1600" dirty="0" err="1"/>
              <a:t>Pract</a:t>
            </a:r>
            <a:r>
              <a:rPr lang="en-ID" sz="1600" dirty="0"/>
              <a:t> 2019; 28:280–283 </a:t>
            </a:r>
            <a:endParaRPr lang="en-ID" sz="1600" dirty="0"/>
          </a:p>
          <a:p>
            <a:r>
              <a:rPr lang="en-ID" sz="1600" dirty="0"/>
              <a:t>17. Griffin AS, </a:t>
            </a:r>
            <a:r>
              <a:rPr lang="en-ID" sz="1600" dirty="0" err="1"/>
              <a:t>Mitsky</a:t>
            </a:r>
            <a:r>
              <a:rPr lang="en-ID" sz="1600" dirty="0"/>
              <a:t> J, Rawal U, Bronner AJ, Tessler FN, Hoang JK. Improved quality of thyroid ultrasound reports after implementation of the ACR Thy roid Imaging Reporting and Data System nodule lexicon and risk </a:t>
            </a:r>
            <a:r>
              <a:rPr lang="en-ID" sz="1600" dirty="0" err="1"/>
              <a:t>stratifica</a:t>
            </a:r>
            <a:r>
              <a:rPr lang="en-ID" sz="1600" dirty="0"/>
              <a:t> </a:t>
            </a:r>
            <a:r>
              <a:rPr lang="en-ID" sz="1600" dirty="0" err="1"/>
              <a:t>tion</a:t>
            </a:r>
            <a:r>
              <a:rPr lang="en-ID" sz="1600" dirty="0"/>
              <a:t> system. J Am Coll </a:t>
            </a:r>
            <a:r>
              <a:rPr lang="en-ID" sz="1600" dirty="0" err="1"/>
              <a:t>Radiol</a:t>
            </a:r>
            <a:r>
              <a:rPr lang="en-ID" sz="1600" dirty="0"/>
              <a:t> 2018; 15:743–748 </a:t>
            </a:r>
            <a:endParaRPr lang="en-ID" sz="1600" dirty="0"/>
          </a:p>
          <a:p>
            <a:r>
              <a:rPr lang="en-ID" sz="1600" dirty="0"/>
              <a:t>18. Davies L, Ouellette M, Hunter M, Welch HG. The increasing incidence of small thyroid cancers: where are the cases coming from? Laryngoscope 2010; 120:2446–2451 </a:t>
            </a:r>
            <a:endParaRPr lang="en-ID" sz="1600" dirty="0"/>
          </a:p>
          <a:p>
            <a:r>
              <a:rPr lang="en-ID" sz="1600" dirty="0"/>
              <a:t>19. Hoang JK, Middleton WD, </a:t>
            </a:r>
            <a:r>
              <a:rPr lang="en-ID" sz="1600" dirty="0" err="1"/>
              <a:t>Farjat</a:t>
            </a:r>
            <a:r>
              <a:rPr lang="en-ID" sz="1600" dirty="0"/>
              <a:t> AJ, et al. Reduction in biopsies and </a:t>
            </a:r>
            <a:r>
              <a:rPr lang="en-ID" sz="1600" dirty="0" err="1"/>
              <a:t>im</a:t>
            </a:r>
            <a:r>
              <a:rPr lang="en-ID" sz="1600" dirty="0"/>
              <a:t> proved accuracy for thyroid nodule evaluation: the American College of Radiology Thyroid Imaging Reporting and Data System (ACR TI-RADS). Radiology 2018; 287:185–193 </a:t>
            </a:r>
            <a:endParaRPr lang="en-ID" sz="1600" dirty="0"/>
          </a:p>
          <a:p>
            <a:r>
              <a:rPr lang="en-ID" sz="1600" dirty="0"/>
              <a:t>20. Russ G, Bonnema SJ, Erdogan MF, Durante C, Ngu R, </a:t>
            </a:r>
            <a:r>
              <a:rPr lang="en-ID" sz="1600" dirty="0" err="1"/>
              <a:t>Leenhardt</a:t>
            </a:r>
            <a:r>
              <a:rPr lang="en-ID" sz="1600" dirty="0"/>
              <a:t> L. European Thyroid Association guidelines for ultrasound malignancy risk stratification of thyroid nodules in adults: the EU-TIRADS. </a:t>
            </a:r>
            <a:r>
              <a:rPr lang="en-ID" sz="1600" dirty="0" err="1"/>
              <a:t>Eur</a:t>
            </a:r>
            <a:r>
              <a:rPr lang="en-ID" sz="1600" dirty="0"/>
              <a:t> Thyroid J 2017; 6:225–237 </a:t>
            </a:r>
            <a:endParaRPr lang="en-ID" sz="1600" dirty="0"/>
          </a:p>
          <a:p>
            <a:r>
              <a:rPr lang="en-ID" sz="1600" dirty="0"/>
              <a:t>21. Shin JH, Baek JH, Chung J, et al.; Korean Society of Thyroid Radiology (</a:t>
            </a:r>
            <a:r>
              <a:rPr lang="en-ID" sz="1600" dirty="0" err="1"/>
              <a:t>KSThR</a:t>
            </a:r>
            <a:r>
              <a:rPr lang="en-ID" sz="1600" dirty="0"/>
              <a:t>) and Korean Society of Radiology. Ultrasonography diagnosis and imaging-based management of thyroid nodules: revised Korean Society of Thyroid Radiology consensus statement and recommendations. Korean J </a:t>
            </a:r>
            <a:r>
              <a:rPr lang="en-ID" sz="1600" dirty="0" err="1"/>
              <a:t>Radiol</a:t>
            </a:r>
            <a:r>
              <a:rPr lang="en-ID" sz="1600" dirty="0"/>
              <a:t> 2016; 17:370–395</a:t>
            </a:r>
            <a:endParaRPr lang="en-ID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11720</Words>
  <Application>WPS Presentation</Application>
  <PresentationFormat>Custom</PresentationFormat>
  <Paragraphs>273</Paragraphs>
  <Slides>25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8" baseType="lpstr">
      <vt:lpstr>Arial</vt:lpstr>
      <vt:lpstr>SimSun</vt:lpstr>
      <vt:lpstr>Wingdings</vt:lpstr>
      <vt:lpstr>Poppins Light</vt:lpstr>
      <vt:lpstr>Poppins Semi-Bold</vt:lpstr>
      <vt:lpstr>Raleway</vt:lpstr>
      <vt:lpstr>Raleway</vt:lpstr>
      <vt:lpstr>Raleway</vt:lpstr>
      <vt:lpstr>Century Gothic</vt:lpstr>
      <vt:lpstr>HarmonyOS Sans SC Light</vt:lpstr>
      <vt:lpstr>Roboto</vt:lpstr>
      <vt:lpstr>Roboto</vt:lpstr>
      <vt:lpstr>Roboto</vt:lpstr>
      <vt:lpstr>Roboto Bold</vt:lpstr>
      <vt:lpstr>Roboto Bold</vt:lpstr>
      <vt:lpstr>Roboto Bold</vt:lpstr>
      <vt:lpstr>Calibri</vt:lpstr>
      <vt:lpstr>微软雅黑</vt:lpstr>
      <vt:lpstr>Arial Unicode MS</vt:lpstr>
      <vt:lpstr>Verdana</vt:lpstr>
      <vt:lpstr>Helvetica</vt:lpstr>
      <vt:lpstr>文泉驿正黑</vt:lpstr>
      <vt:lpstr>Office Theme</vt:lpstr>
      <vt:lpstr>PowerPoint 演示文稿</vt:lpstr>
      <vt:lpstr>Outline</vt:lpstr>
      <vt:lpstr>PowerPoint 演示文稿</vt:lpstr>
      <vt:lpstr>What is general US imaging?</vt:lpstr>
      <vt:lpstr>Principles of US</vt:lpstr>
      <vt:lpstr>Ultrasound parts</vt:lpstr>
      <vt:lpstr>Image Optimization</vt:lpstr>
      <vt:lpstr>Benefits</vt:lpstr>
      <vt:lpstr>Anatomy Thyroid gland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Template PPT Webinar 19 Sept - 3</dc:title>
  <dc:creator>Achmad Fachri</dc:creator>
  <cp:lastModifiedBy>hsl</cp:lastModifiedBy>
  <cp:revision>8</cp:revision>
  <dcterms:created xsi:type="dcterms:W3CDTF">2026-09-19T13:49:01Z</dcterms:created>
  <dcterms:modified xsi:type="dcterms:W3CDTF">2026-09-19T13:49:01Z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2B18DE6A1FD5D40ECC92AE6A7BA4538B_43</vt:lpwstr>
  </property>
  <property fmtid="{D5CDD505-2E9C-101B-9397-08002B2CF9AE}" pid="3" name="KSOProductBuildVer">
    <vt:lpwstr>1033-12.1.2.24819</vt:lpwstr>
  </property>
</Properties>
</file>